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301" r:id="rId4"/>
    <p:sldId id="290" r:id="rId5"/>
    <p:sldId id="295" r:id="rId6"/>
    <p:sldId id="298" r:id="rId7"/>
    <p:sldId id="288" r:id="rId8"/>
    <p:sldId id="291" r:id="rId9"/>
    <p:sldId id="296" r:id="rId10"/>
    <p:sldId id="292" r:id="rId11"/>
    <p:sldId id="294" r:id="rId12"/>
    <p:sldId id="299" r:id="rId13"/>
    <p:sldId id="293" r:id="rId14"/>
    <p:sldId id="302" r:id="rId15"/>
    <p:sldId id="300" r:id="rId16"/>
    <p:sldId id="289" r:id="rId17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5" pos="600" userDrawn="1">
          <p15:clr>
            <a:srgbClr val="A4A3A4"/>
          </p15:clr>
        </p15:guide>
        <p15:guide id="6" orient="horz" pos="480" userDrawn="1">
          <p15:clr>
            <a:srgbClr val="A4A3A4"/>
          </p15:clr>
        </p15:guide>
        <p15:guide id="7" pos="960" userDrawn="1">
          <p15:clr>
            <a:srgbClr val="A4A3A4"/>
          </p15:clr>
        </p15:guide>
        <p15:guide id="8" pos="5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990"/>
    <a:srgbClr val="0804A0"/>
    <a:srgbClr val="0905BF"/>
    <a:srgbClr val="2487FD"/>
    <a:srgbClr val="CADCEF"/>
    <a:srgbClr val="4E67C3"/>
    <a:srgbClr val="5356BC"/>
    <a:srgbClr val="DC3253"/>
    <a:srgbClr val="167EFD"/>
    <a:srgbClr val="3EA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15" autoAdjust="0"/>
    <p:restoredTop sz="96405"/>
  </p:normalViewPr>
  <p:slideViewPr>
    <p:cSldViewPr snapToGrid="0" showGuides="1">
      <p:cViewPr varScale="1">
        <p:scale>
          <a:sx n="156" d="100"/>
          <a:sy n="156" d="100"/>
        </p:scale>
        <p:origin x="114" y="114"/>
      </p:cViewPr>
      <p:guideLst>
        <p:guide orient="horz" pos="4020"/>
        <p:guide pos="312"/>
        <p:guide pos="600"/>
        <p:guide orient="horz" pos="480"/>
        <p:guide pos="960"/>
        <p:guide pos="5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90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6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11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48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5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79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0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23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13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06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90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DA1DC-02EE-48C6-A739-149E68565C5A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1D30D-1363-4993-A32A-D6DB6C8162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27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5.emf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5" Type="http://schemas.openxmlformats.org/officeDocument/2006/relationships/image" Target="../media/image16.emf"/><Relationship Id="rId10" Type="http://schemas.openxmlformats.org/officeDocument/2006/relationships/image" Target="../media/image21.emf"/><Relationship Id="rId4" Type="http://schemas.openxmlformats.org/officeDocument/2006/relationships/image" Target="../media/image5.emf"/><Relationship Id="rId9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emf"/><Relationship Id="rId5" Type="http://schemas.openxmlformats.org/officeDocument/2006/relationships/image" Target="../media/image24.png"/><Relationship Id="rId4" Type="http://schemas.openxmlformats.org/officeDocument/2006/relationships/image" Target="../media/image5.emf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image" Target="../media/image5.emf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6209111-600F-C14A-81E7-A910674DD78A}"/>
              </a:ext>
            </a:extLst>
          </p:cNvPr>
          <p:cNvSpPr txBox="1"/>
          <p:nvPr/>
        </p:nvSpPr>
        <p:spPr>
          <a:xfrm>
            <a:off x="0" y="234560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solidFill>
                  <a:srgbClr val="2A1990"/>
                </a:solidFill>
                <a:latin typeface="Helvetica" pitchFamily="2" charset="0"/>
              </a:rPr>
              <a:t>Антивирус не панацея</a:t>
            </a:r>
            <a:endParaRPr lang="ru-RU" sz="44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353B309-1141-3D40-92F0-BE24297C7E4B}"/>
              </a:ext>
            </a:extLst>
          </p:cNvPr>
          <p:cNvSpPr txBox="1"/>
          <p:nvPr/>
        </p:nvSpPr>
        <p:spPr>
          <a:xfrm>
            <a:off x="0" y="3624759"/>
            <a:ext cx="121920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900" dirty="0" smtClean="0">
                <a:solidFill>
                  <a:srgbClr val="FF0000"/>
                </a:solidFill>
                <a:latin typeface="Helvetica" pitchFamily="2" charset="0"/>
              </a:rPr>
              <a:t>Почему вредоносное ПО представляет угрозу</a:t>
            </a:r>
            <a:br>
              <a:rPr lang="ru-RU" sz="1900" dirty="0" smtClean="0">
                <a:solidFill>
                  <a:srgbClr val="FF0000"/>
                </a:solidFill>
                <a:latin typeface="Helvetica" pitchFamily="2" charset="0"/>
              </a:rPr>
            </a:br>
            <a:r>
              <a:rPr lang="ru-RU" sz="1900" dirty="0" smtClean="0">
                <a:solidFill>
                  <a:srgbClr val="FF0000"/>
                </a:solidFill>
                <a:latin typeface="Helvetica" pitchFamily="2" charset="0"/>
              </a:rPr>
              <a:t>даже при наличии антивируса и </a:t>
            </a:r>
            <a:br>
              <a:rPr lang="ru-RU" sz="1900" dirty="0" smtClean="0">
                <a:solidFill>
                  <a:srgbClr val="FF0000"/>
                </a:solidFill>
                <a:latin typeface="Helvetica" pitchFamily="2" charset="0"/>
              </a:rPr>
            </a:br>
            <a:r>
              <a:rPr lang="ru-RU" sz="1900" dirty="0" smtClean="0">
                <a:solidFill>
                  <a:srgbClr val="FF0000"/>
                </a:solidFill>
                <a:latin typeface="Helvetica" pitchFamily="2" charset="0"/>
              </a:rPr>
              <a:t>как этому противостоять</a:t>
            </a:r>
            <a:endParaRPr lang="ru-RU" sz="1900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59FF3B1-FD64-954F-80AE-659F41EEB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1300"/>
            <a:ext cx="12192000" cy="15367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05636E5D-CB6C-5D49-85B2-75386E9F3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0" y="1142625"/>
            <a:ext cx="3997960" cy="77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1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E6B441C-DA70-A546-ACC7-6EC6A68656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B042C31-97EC-854D-BDC3-43D99FDBA729}"/>
              </a:ext>
            </a:extLst>
          </p:cNvPr>
          <p:cNvSpPr txBox="1"/>
          <p:nvPr/>
        </p:nvSpPr>
        <p:spPr>
          <a:xfrm>
            <a:off x="0" y="311834"/>
            <a:ext cx="920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Понятия</a:t>
            </a:r>
            <a:endParaRPr lang="ru-RU" sz="36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495300" y="5032735"/>
            <a:ext cx="9309100" cy="369332"/>
            <a:chOff x="495300" y="5675858"/>
            <a:chExt cx="9309100" cy="369332"/>
          </a:xfrm>
        </p:grpSpPr>
        <p:pic>
          <p:nvPicPr>
            <p:cNvPr id="22" name="Рисунок 5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5746224"/>
              <a:ext cx="228600" cy="228600"/>
            </a:xfrm>
            <a:prstGeom prst="rect">
              <a:avLst/>
            </a:prstGeom>
          </p:spPr>
        </p:pic>
        <p:sp>
          <p:nvSpPr>
            <p:cNvPr id="23" name="Rectangle 19"/>
            <p:cNvSpPr/>
            <p:nvPr/>
          </p:nvSpPr>
          <p:spPr>
            <a:xfrm>
              <a:off x="952500" y="5675858"/>
              <a:ext cx="88519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ru-RU" b="1" dirty="0" smtClean="0"/>
                <a:t>Антивирусный </a:t>
              </a:r>
              <a:r>
                <a:rPr lang="ru-RU" b="1" dirty="0" err="1" smtClean="0"/>
                <a:t>детект</a:t>
              </a:r>
              <a:r>
                <a:rPr lang="ru-RU" b="1" dirty="0" smtClean="0"/>
                <a:t> </a:t>
              </a:r>
              <a:r>
                <a:rPr lang="ru-RU" dirty="0" smtClean="0"/>
                <a:t>- событие, соответствующее обнаружению вредоносного ПО</a:t>
              </a:r>
              <a:endParaRPr lang="en-US" dirty="0"/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495300" y="2780011"/>
            <a:ext cx="9629249" cy="923330"/>
            <a:chOff x="495300" y="2918378"/>
            <a:chExt cx="9629249" cy="92333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2988562"/>
              <a:ext cx="228600" cy="228600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952498" y="2918378"/>
              <a:ext cx="850476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b="1" dirty="0" err="1"/>
                <a:t>Вредоносн</a:t>
              </a:r>
              <a:r>
                <a:rPr lang="ru-RU" b="1" dirty="0"/>
                <a:t>ое</a:t>
              </a:r>
              <a:r>
                <a:rPr lang="en-US" b="1" dirty="0"/>
                <a:t> </a:t>
              </a:r>
              <a:r>
                <a:rPr lang="ru-RU" b="1" dirty="0" smtClean="0"/>
                <a:t>ПО (</a:t>
              </a:r>
              <a:r>
                <a:rPr lang="en-US" b="1" dirty="0" smtClean="0"/>
                <a:t>malware</a:t>
              </a:r>
              <a:r>
                <a:rPr lang="ru-RU" b="1" dirty="0" smtClean="0"/>
                <a:t>)</a:t>
              </a:r>
              <a:r>
                <a:rPr lang="en-US" b="1" dirty="0" smtClean="0"/>
                <a:t> </a:t>
              </a:r>
              <a:r>
                <a:rPr lang="ru-RU" dirty="0" smtClean="0"/>
                <a:t>-</a:t>
              </a:r>
              <a:r>
                <a:rPr lang="en-US" dirty="0" smtClean="0"/>
                <a:t> </a:t>
              </a:r>
              <a:r>
                <a:rPr lang="ru-RU" dirty="0"/>
                <a:t>с</a:t>
              </a:r>
              <a:r>
                <a:rPr lang="en-US" dirty="0" err="1"/>
                <a:t>обирательный</a:t>
              </a:r>
              <a:r>
                <a:rPr lang="en-US" dirty="0"/>
                <a:t> </a:t>
              </a:r>
              <a:r>
                <a:rPr lang="en-US" dirty="0" err="1"/>
                <a:t>термин</a:t>
              </a:r>
              <a:r>
                <a:rPr lang="en-US" dirty="0"/>
                <a:t>, </a:t>
              </a:r>
              <a:r>
                <a:rPr lang="en-US" dirty="0" err="1"/>
                <a:t>обозначающий</a:t>
              </a:r>
              <a:r>
                <a:rPr lang="en-US" dirty="0"/>
                <a:t> </a:t>
              </a:r>
              <a:r>
                <a:rPr lang="en-US" dirty="0" err="1"/>
                <a:t>вредоносную</a:t>
              </a:r>
              <a:r>
                <a:rPr lang="en-US" dirty="0"/>
                <a:t> </a:t>
              </a:r>
              <a:r>
                <a:rPr lang="en-US" dirty="0" err="1"/>
                <a:t>программу</a:t>
              </a:r>
              <a:r>
                <a:rPr lang="en-US" dirty="0"/>
                <a:t> </a:t>
              </a:r>
              <a:r>
                <a:rPr lang="en-US" dirty="0" err="1"/>
                <a:t>или</a:t>
              </a:r>
              <a:r>
                <a:rPr lang="en-US" dirty="0"/>
                <a:t> </a:t>
              </a:r>
              <a:r>
                <a:rPr lang="en-US" dirty="0" err="1"/>
                <a:t>код</a:t>
              </a:r>
              <a:r>
                <a:rPr lang="en-US" dirty="0"/>
                <a:t>, </a:t>
              </a:r>
              <a:r>
                <a:rPr lang="en-US" dirty="0" err="1"/>
                <a:t>который</a:t>
              </a:r>
              <a:r>
                <a:rPr lang="en-US" dirty="0"/>
                <a:t> </a:t>
              </a:r>
              <a:r>
                <a:rPr lang="en-US" dirty="0" err="1"/>
                <a:t>может</a:t>
              </a:r>
              <a:r>
                <a:rPr lang="en-US" dirty="0"/>
                <a:t> </a:t>
              </a:r>
              <a:r>
                <a:rPr lang="ru-RU" dirty="0"/>
                <a:t>скомпрометировать данные пользователя или причинить </a:t>
              </a:r>
              <a:r>
                <a:rPr lang="en-US" dirty="0" err="1"/>
                <a:t>ущерб</a:t>
              </a:r>
              <a:r>
                <a:rPr lang="en-US" dirty="0"/>
                <a:t> </a:t>
              </a:r>
              <a:r>
                <a:rPr lang="ru-RU" dirty="0" smtClean="0"/>
                <a:t>информационной </a:t>
              </a:r>
              <a:r>
                <a:rPr lang="en-US" dirty="0" err="1" smtClean="0"/>
                <a:t>системе</a:t>
              </a:r>
              <a:r>
                <a:rPr lang="en-US" dirty="0"/>
                <a:t>.</a:t>
              </a:r>
              <a:endParaRPr lang="ru-RU" dirty="0"/>
            </a:p>
          </p:txBody>
        </p:sp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7862" y="2954537"/>
              <a:ext cx="496687" cy="583745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668" y="4910053"/>
            <a:ext cx="706774" cy="574930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495300" y="3803380"/>
            <a:ext cx="9757961" cy="785879"/>
            <a:chOff x="495300" y="3749236"/>
            <a:chExt cx="9757961" cy="785879"/>
          </a:xfrm>
        </p:grpSpPr>
        <p:pic>
          <p:nvPicPr>
            <p:cNvPr id="9" name="Рисунок 5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4012451"/>
              <a:ext cx="228600" cy="22860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952496" y="3939274"/>
              <a:ext cx="862330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ru-RU" b="1" dirty="0"/>
                <a:t>Антивирус</a:t>
              </a:r>
              <a:r>
                <a:rPr lang="ru-RU" dirty="0"/>
                <a:t> </a:t>
              </a:r>
              <a:r>
                <a:rPr lang="ru-RU" dirty="0" smtClean="0"/>
                <a:t>- </a:t>
              </a:r>
              <a:r>
                <a:rPr lang="ru-RU" dirty="0"/>
                <a:t>специальное ПО, обнаруживающие и нейтрализующее вредоносное ПО</a:t>
              </a:r>
            </a:p>
          </p:txBody>
        </p:sp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7382" y="3749236"/>
              <a:ext cx="785879" cy="785879"/>
            </a:xfrm>
            <a:prstGeom prst="rect">
              <a:avLst/>
            </a:prstGeom>
          </p:spPr>
        </p:pic>
      </p:grpSp>
      <p:sp>
        <p:nvSpPr>
          <p:cNvPr id="10" name="Прямоугольник 9"/>
          <p:cNvSpPr/>
          <p:nvPr/>
        </p:nvSpPr>
        <p:spPr>
          <a:xfrm>
            <a:off x="952495" y="1432552"/>
            <a:ext cx="83885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Злоумышленник</a:t>
            </a:r>
            <a:r>
              <a:rPr lang="ru-RU" dirty="0"/>
              <a:t> </a:t>
            </a:r>
            <a:r>
              <a:rPr lang="ru-RU" dirty="0" smtClean="0"/>
              <a:t>- </a:t>
            </a:r>
            <a:r>
              <a:rPr lang="ru-RU" dirty="0"/>
              <a:t>л</a:t>
            </a:r>
            <a:r>
              <a:rPr lang="ru-RU" dirty="0" smtClean="0"/>
              <a:t>ицо</a:t>
            </a:r>
            <a:r>
              <a:rPr lang="ru-RU" dirty="0"/>
              <a:t>, заинтересованное в получении </a:t>
            </a:r>
            <a:r>
              <a:rPr lang="ru-RU" dirty="0" smtClean="0"/>
              <a:t>несанкционированного </a:t>
            </a:r>
            <a:r>
              <a:rPr lang="ru-RU" dirty="0"/>
              <a:t>доступа к конфиденциальной </a:t>
            </a:r>
            <a:r>
              <a:rPr lang="ru-RU" dirty="0" smtClean="0"/>
              <a:t>информации или оказывающий воздействие на информационную систему с целью нарушения ее нормального функционирования</a:t>
            </a:r>
            <a:endParaRPr lang="en-US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509374"/>
            <a:ext cx="228600" cy="2286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06" y="1523698"/>
            <a:ext cx="611673" cy="61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68CD9C-A620-FB42-A413-A0B5DED3471D}"/>
              </a:ext>
            </a:extLst>
          </p:cNvPr>
          <p:cNvSpPr txBox="1"/>
          <p:nvPr/>
        </p:nvSpPr>
        <p:spPr>
          <a:xfrm>
            <a:off x="0" y="2422102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Как антивирус находит</a:t>
            </a:r>
            <a:b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</a:br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вредоносное ПО?</a:t>
            </a:r>
            <a:endParaRPr lang="en-US" sz="3600" b="1" dirty="0" smtClean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B49C233-7C2A-D449-A942-086177863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4100"/>
            <a:ext cx="12192000" cy="1993900"/>
          </a:xfrm>
          <a:prstGeom prst="rect">
            <a:avLst/>
          </a:prstGeo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19" y="1213599"/>
            <a:ext cx="1278561" cy="120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2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B042C31-97EC-854D-BDC3-43D99FDBA729}"/>
              </a:ext>
            </a:extLst>
          </p:cNvPr>
          <p:cNvSpPr txBox="1"/>
          <p:nvPr/>
        </p:nvSpPr>
        <p:spPr>
          <a:xfrm>
            <a:off x="0" y="313976"/>
            <a:ext cx="920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2A1990"/>
                </a:solidFill>
                <a:latin typeface="Helvetica" pitchFamily="2" charset="0"/>
              </a:rPr>
              <a:t>Механизмы </a:t>
            </a:r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детектирования</a:t>
            </a:r>
            <a:endParaRPr lang="ru-RU" sz="36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E6B441C-DA70-A546-ACC7-6EC6A68656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grpSp>
        <p:nvGrpSpPr>
          <p:cNvPr id="14" name="Группа 13"/>
          <p:cNvGrpSpPr/>
          <p:nvPr/>
        </p:nvGrpSpPr>
        <p:grpSpPr>
          <a:xfrm>
            <a:off x="248652" y="4037761"/>
            <a:ext cx="3299380" cy="1107996"/>
            <a:chOff x="495300" y="1201667"/>
            <a:chExt cx="3299380" cy="1107996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1260991"/>
              <a:ext cx="228600" cy="228600"/>
            </a:xfrm>
            <a:prstGeom prst="rect">
              <a:avLst/>
            </a:prstGeom>
          </p:spPr>
        </p:pic>
        <p:sp>
          <p:nvSpPr>
            <p:cNvPr id="17" name="Прямоугольник 16"/>
            <p:cNvSpPr/>
            <p:nvPr/>
          </p:nvSpPr>
          <p:spPr>
            <a:xfrm>
              <a:off x="806105" y="1201667"/>
              <a:ext cx="2988575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smtClean="0"/>
                <a:t>Динамический анализ</a:t>
              </a:r>
            </a:p>
            <a:p>
              <a:r>
                <a:rPr lang="ru-RU" sz="1600" i="1" dirty="0" smtClean="0"/>
                <a:t>        </a:t>
              </a:r>
              <a:r>
                <a:rPr lang="ru-RU" sz="1600" i="1" dirty="0" smtClean="0">
                  <a:solidFill>
                    <a:srgbClr val="7030A0"/>
                  </a:solidFill>
                </a:rPr>
                <a:t>анализ поведения процесса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/>
                <a:t>в</a:t>
              </a:r>
              <a:r>
                <a:rPr lang="ru-RU" sz="1600" dirty="0" smtClean="0"/>
                <a:t> режиме эмуляции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/>
                <a:t>в</a:t>
              </a:r>
              <a:r>
                <a:rPr lang="ru-RU" sz="1600" dirty="0" smtClean="0"/>
                <a:t> реальной среде</a:t>
              </a:r>
              <a:endParaRPr lang="en-US" sz="1600" dirty="0"/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248652" y="1375523"/>
            <a:ext cx="4188213" cy="2400657"/>
            <a:chOff x="495300" y="1375523"/>
            <a:chExt cx="4188213" cy="2400657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806105" y="1375523"/>
              <a:ext cx="3877408" cy="24006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smtClean="0"/>
                <a:t>Статический анализ</a:t>
              </a:r>
            </a:p>
            <a:p>
              <a:r>
                <a:rPr lang="ru-RU" sz="1600" i="1" dirty="0" smtClean="0"/>
                <a:t>       </a:t>
              </a:r>
              <a:r>
                <a:rPr lang="ru-RU" sz="1600" i="1" dirty="0" smtClean="0">
                  <a:solidFill>
                    <a:srgbClr val="7030A0"/>
                  </a:solidFill>
                </a:rPr>
                <a:t>анализ приложения или скрипта</a:t>
              </a:r>
            </a:p>
            <a:p>
              <a:r>
                <a:rPr lang="ru-RU" sz="1600" i="1" dirty="0" smtClean="0">
                  <a:solidFill>
                    <a:srgbClr val="7030A0"/>
                  </a:solidFill>
                </a:rPr>
                <a:t>       на накопителе, в </a:t>
              </a:r>
              <a:r>
                <a:rPr lang="ru-RU" sz="1600" i="1" dirty="0" err="1" smtClean="0">
                  <a:solidFill>
                    <a:srgbClr val="7030A0"/>
                  </a:solidFill>
                </a:rPr>
                <a:t>т.ч</a:t>
              </a:r>
              <a:r>
                <a:rPr lang="ru-RU" sz="1600" i="1" dirty="0" smtClean="0">
                  <a:solidFill>
                    <a:srgbClr val="7030A0"/>
                  </a:solidFill>
                </a:rPr>
                <a:t>. перед запуском</a:t>
              </a:r>
            </a:p>
            <a:p>
              <a:endParaRPr lang="ru-RU" sz="400" i="1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Разбор структуры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Распаковка (при возможности)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Поиск вредоносных сигнатур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Анализ кода и данных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Предположения о наличии</a:t>
              </a:r>
              <a:br>
                <a:rPr lang="ru-RU" sz="1600" dirty="0" smtClean="0"/>
              </a:br>
              <a:r>
                <a:rPr lang="ru-RU" sz="1600" dirty="0" smtClean="0"/>
                <a:t>вредоносных функций</a:t>
              </a:r>
              <a:endParaRPr lang="en-US" dirty="0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495300" y="1459033"/>
              <a:ext cx="228600" cy="228600"/>
            </a:xfrm>
            <a:prstGeom prst="rect">
              <a:avLst/>
            </a:prstGeom>
            <a:solidFill>
              <a:srgbClr val="FFC000"/>
            </a:solidFill>
            <a:ln w="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592" y="985357"/>
            <a:ext cx="7610582" cy="3412352"/>
          </a:xfrm>
          <a:prstGeom prst="rect">
            <a:avLst/>
          </a:prstGeom>
        </p:spPr>
      </p:pic>
      <p:grpSp>
        <p:nvGrpSpPr>
          <p:cNvPr id="2" name="Группа 1"/>
          <p:cNvGrpSpPr/>
          <p:nvPr/>
        </p:nvGrpSpPr>
        <p:grpSpPr>
          <a:xfrm>
            <a:off x="6052185" y="4776425"/>
            <a:ext cx="5269531" cy="738664"/>
            <a:chOff x="542925" y="5151971"/>
            <a:chExt cx="5263615" cy="738664"/>
          </a:xfrm>
        </p:grpSpPr>
        <p:sp>
          <p:nvSpPr>
            <p:cNvPr id="13" name="Rectangle 9"/>
            <p:cNvSpPr/>
            <p:nvPr/>
          </p:nvSpPr>
          <p:spPr>
            <a:xfrm>
              <a:off x="708660" y="5151971"/>
              <a:ext cx="509788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b="1" dirty="0" smtClean="0"/>
                <a:t>Эмуляция</a:t>
              </a:r>
              <a:r>
                <a:rPr lang="ru-RU" sz="1400" dirty="0"/>
                <a:t> </a:t>
              </a:r>
              <a:r>
                <a:rPr lang="ru-RU" sz="1400" dirty="0" smtClean="0"/>
                <a:t>- это процесс имитации (создание иллюзии) </a:t>
              </a:r>
              <a:br>
                <a:rPr lang="ru-RU" sz="1400" dirty="0" smtClean="0"/>
              </a:br>
              <a:r>
                <a:rPr lang="ru-RU" sz="1400" dirty="0" smtClean="0"/>
                <a:t>рабочей среды для приложений определенного типа.</a:t>
              </a:r>
            </a:p>
            <a:p>
              <a:r>
                <a:rPr lang="ru-RU" sz="1400" i="1" dirty="0" smtClean="0"/>
                <a:t>       Необходима для анализа поведения в виртуальной среде  </a:t>
              </a:r>
              <a:endParaRPr lang="en-US" sz="1400" i="1" dirty="0"/>
            </a:p>
          </p:txBody>
        </p:sp>
        <p:sp>
          <p:nvSpPr>
            <p:cNvPr id="23" name="Овал 22"/>
            <p:cNvSpPr/>
            <p:nvPr/>
          </p:nvSpPr>
          <p:spPr>
            <a:xfrm>
              <a:off x="542925" y="5231683"/>
              <a:ext cx="133350" cy="1333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6052185" y="5643922"/>
            <a:ext cx="4836795" cy="307777"/>
            <a:chOff x="542925" y="5718014"/>
            <a:chExt cx="4836795" cy="307777"/>
          </a:xfrm>
        </p:grpSpPr>
        <p:sp>
          <p:nvSpPr>
            <p:cNvPr id="22" name="Rectangle 19"/>
            <p:cNvSpPr/>
            <p:nvPr/>
          </p:nvSpPr>
          <p:spPr>
            <a:xfrm>
              <a:off x="723900" y="5718014"/>
              <a:ext cx="465582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b="1" dirty="0" smtClean="0"/>
                <a:t>Эмулятор </a:t>
              </a:r>
              <a:r>
                <a:rPr lang="ru-RU" sz="1400" dirty="0" smtClean="0"/>
                <a:t>- специальное ПО, осуществляющее эмуляцию</a:t>
              </a:r>
              <a:endParaRPr lang="en-US" sz="1400" dirty="0"/>
            </a:p>
          </p:txBody>
        </p:sp>
        <p:sp>
          <p:nvSpPr>
            <p:cNvPr id="24" name="Овал 23"/>
            <p:cNvSpPr/>
            <p:nvPr/>
          </p:nvSpPr>
          <p:spPr>
            <a:xfrm>
              <a:off x="542925" y="5805045"/>
              <a:ext cx="133350" cy="1333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12158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030" y="52939"/>
            <a:ext cx="2476500" cy="6223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E6B441C-DA70-A546-ACC7-6EC6A68656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B042C31-97EC-854D-BDC3-43D99FDBA729}"/>
              </a:ext>
            </a:extLst>
          </p:cNvPr>
          <p:cNvSpPr txBox="1"/>
          <p:nvPr/>
        </p:nvSpPr>
        <p:spPr>
          <a:xfrm>
            <a:off x="0" y="86935"/>
            <a:ext cx="9206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2A1990"/>
                </a:solidFill>
                <a:latin typeface="Helvetica" pitchFamily="2" charset="0"/>
              </a:rPr>
              <a:t>Сигнатуры вредоносного ПО</a:t>
            </a:r>
            <a:endParaRPr lang="ru-RU" sz="30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8886864" y="1244483"/>
            <a:ext cx="3305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“https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2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my_awesome_botnet.org”</a:t>
            </a:r>
            <a:endParaRPr lang="ru-RU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“format c: /q”</a:t>
            </a:r>
            <a:endParaRPr lang="ru-RU" sz="1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3" name="Рисунок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969037"/>
            <a:ext cx="3917159" cy="487209"/>
          </a:xfrm>
          <a:prstGeom prst="rect">
            <a:avLst/>
          </a:prstGeom>
        </p:spPr>
      </p:pic>
      <p:grpSp>
        <p:nvGrpSpPr>
          <p:cNvPr id="11" name="Группа 10"/>
          <p:cNvGrpSpPr/>
          <p:nvPr/>
        </p:nvGrpSpPr>
        <p:grpSpPr>
          <a:xfrm>
            <a:off x="495298" y="697921"/>
            <a:ext cx="9080501" cy="646331"/>
            <a:chOff x="495298" y="812221"/>
            <a:chExt cx="9080501" cy="646331"/>
          </a:xfrm>
        </p:grpSpPr>
        <p:pic>
          <p:nvPicPr>
            <p:cNvPr id="17" name="Рисунок 5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298" y="882587"/>
              <a:ext cx="228600" cy="228600"/>
            </a:xfrm>
            <a:prstGeom prst="rect">
              <a:avLst/>
            </a:prstGeom>
          </p:spPr>
        </p:pic>
        <p:sp>
          <p:nvSpPr>
            <p:cNvPr id="18" name="Rectangle 14"/>
            <p:cNvSpPr/>
            <p:nvPr/>
          </p:nvSpPr>
          <p:spPr>
            <a:xfrm>
              <a:off x="952498" y="812221"/>
              <a:ext cx="862330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b="1" dirty="0" smtClean="0"/>
                <a:t>Сигнатура вредоносного ПО</a:t>
              </a:r>
              <a:r>
                <a:rPr lang="en-US" b="1" dirty="0" smtClean="0"/>
                <a:t> </a:t>
              </a:r>
              <a:r>
                <a:rPr lang="en-US" dirty="0" smtClean="0"/>
                <a:t>- </a:t>
              </a:r>
              <a:r>
                <a:rPr lang="en-US" dirty="0" err="1" smtClean="0"/>
                <a:t>характерны</a:t>
              </a:r>
              <a:r>
                <a:rPr lang="ru-RU" dirty="0" smtClean="0"/>
                <a:t>й</a:t>
              </a:r>
              <a:r>
                <a:rPr lang="en-US" dirty="0" smtClean="0"/>
                <a:t> </a:t>
              </a:r>
              <a:r>
                <a:rPr lang="en-US" dirty="0" err="1" smtClean="0"/>
                <a:t>признак</a:t>
              </a:r>
              <a:r>
                <a:rPr lang="en-US" dirty="0" smtClean="0"/>
                <a:t> </a:t>
              </a:r>
              <a:r>
                <a:rPr lang="ru-RU" dirty="0" smtClean="0"/>
                <a:t>вредоносного ПО</a:t>
              </a:r>
              <a:r>
                <a:rPr lang="en-US" dirty="0" smtClean="0"/>
                <a:t>, </a:t>
              </a:r>
              <a:r>
                <a:rPr lang="ru-RU" dirty="0" smtClean="0"/>
                <a:t/>
              </a:r>
              <a:br>
                <a:rPr lang="ru-RU" dirty="0" smtClean="0"/>
              </a:br>
              <a:r>
                <a:rPr lang="en-US" dirty="0" err="1" smtClean="0"/>
                <a:t>используем</a:t>
              </a:r>
              <a:r>
                <a:rPr lang="ru-RU" dirty="0" smtClean="0"/>
                <a:t>ый</a:t>
              </a:r>
              <a:r>
                <a:rPr lang="en-US" dirty="0" smtClean="0"/>
                <a:t> </a:t>
              </a:r>
              <a:r>
                <a:rPr lang="en-US" dirty="0" err="1"/>
                <a:t>для</a:t>
              </a:r>
              <a:r>
                <a:rPr lang="en-US" dirty="0"/>
                <a:t> </a:t>
              </a:r>
              <a:r>
                <a:rPr lang="ru-RU" dirty="0" smtClean="0"/>
                <a:t>его</a:t>
              </a:r>
              <a:r>
                <a:rPr lang="en-US" dirty="0" smtClean="0"/>
                <a:t> </a:t>
              </a:r>
              <a:r>
                <a:rPr lang="en-US" dirty="0" err="1"/>
                <a:t>обнаружения</a:t>
              </a:r>
              <a:r>
                <a:rPr lang="en-US" dirty="0" smtClean="0"/>
                <a:t>.</a:t>
              </a:r>
            </a:p>
          </p:txBody>
        </p:sp>
      </p:grpSp>
      <p:sp>
        <p:nvSpPr>
          <p:cNvPr id="38" name="Прямоугольник 37"/>
          <p:cNvSpPr/>
          <p:nvPr/>
        </p:nvSpPr>
        <p:spPr>
          <a:xfrm>
            <a:off x="1348738" y="3048190"/>
            <a:ext cx="64988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Сигнатуры поведения </a:t>
            </a:r>
            <a:r>
              <a:rPr lang="ru-RU" dirty="0" smtClean="0"/>
              <a:t>-</a:t>
            </a:r>
            <a:r>
              <a:rPr lang="ru-RU" b="1" dirty="0" smtClean="0"/>
              <a:t> </a:t>
            </a:r>
            <a:r>
              <a:rPr lang="ru-RU" dirty="0" smtClean="0"/>
              <a:t>основанные </a:t>
            </a:r>
            <a:r>
              <a:rPr lang="ru-RU" dirty="0"/>
              <a:t>на «типичном» поведении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вредоносного </a:t>
            </a:r>
            <a:r>
              <a:rPr lang="ru-RU" dirty="0"/>
              <a:t>ПО </a:t>
            </a:r>
            <a:r>
              <a:rPr lang="ru-RU" dirty="0" smtClean="0"/>
              <a:t>или </a:t>
            </a:r>
            <a:r>
              <a:rPr lang="ru-RU" dirty="0"/>
              <a:t>функциональных аномалиях</a:t>
            </a:r>
            <a:endParaRPr lang="ru-RU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586" y="3660262"/>
            <a:ext cx="8149600" cy="2518537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1020616" y="1336672"/>
            <a:ext cx="6690824" cy="1723549"/>
            <a:chOff x="1020616" y="1420492"/>
            <a:chExt cx="6690824" cy="1723549"/>
          </a:xfrm>
        </p:grpSpPr>
        <p:sp>
          <p:nvSpPr>
            <p:cNvPr id="40" name="Прямоугольник 39"/>
            <p:cNvSpPr/>
            <p:nvPr/>
          </p:nvSpPr>
          <p:spPr>
            <a:xfrm>
              <a:off x="1348738" y="1420492"/>
              <a:ext cx="6362702" cy="1723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b="1" dirty="0" smtClean="0"/>
                <a:t>Статические сигнатуры</a:t>
              </a:r>
            </a:p>
            <a:p>
              <a:r>
                <a:rPr lang="ru-RU" sz="1600" b="1" dirty="0"/>
                <a:t> </a:t>
              </a:r>
              <a:r>
                <a:rPr lang="ru-RU" sz="1600" b="1" dirty="0" smtClean="0"/>
                <a:t>               </a:t>
              </a:r>
              <a:r>
                <a:rPr lang="ru-RU" sz="1600" i="1" dirty="0" smtClean="0">
                  <a:solidFill>
                    <a:srgbClr val="7030A0"/>
                  </a:solidFill>
                </a:rPr>
                <a:t>части кода или данных, а так же всего тела ВПО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 smtClean="0"/>
                <a:t>Строки                                         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 smtClean="0"/>
                <a:t>Бинарные данные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 smtClean="0"/>
                <a:t>Фрагменты кода</a:t>
              </a:r>
              <a:endParaRPr lang="en-US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 smtClean="0"/>
                <a:t>Наличие специфических ресурсов</a:t>
              </a:r>
              <a:endParaRPr lang="ru-RU" dirty="0"/>
            </a:p>
          </p:txBody>
        </p:sp>
        <p:sp>
          <p:nvSpPr>
            <p:cNvPr id="24" name="Овал 23"/>
            <p:cNvSpPr/>
            <p:nvPr/>
          </p:nvSpPr>
          <p:spPr>
            <a:xfrm>
              <a:off x="1020616" y="1595059"/>
              <a:ext cx="133350" cy="1333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Овал 24"/>
          <p:cNvSpPr/>
          <p:nvPr/>
        </p:nvSpPr>
        <p:spPr>
          <a:xfrm>
            <a:off x="997987" y="3165211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Прямоугольник 2"/>
          <p:cNvSpPr/>
          <p:nvPr/>
        </p:nvSpPr>
        <p:spPr>
          <a:xfrm>
            <a:off x="10102453" y="1040192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b="1" dirty="0" smtClean="0"/>
              <a:t>Строки</a:t>
            </a:r>
            <a:endParaRPr lang="en-US" sz="1200" b="1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9864791" y="1662877"/>
            <a:ext cx="14189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b="1" dirty="0" smtClean="0"/>
              <a:t>Бинарные данные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34687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68CD9C-A620-FB42-A413-A0B5DED3471D}"/>
              </a:ext>
            </a:extLst>
          </p:cNvPr>
          <p:cNvSpPr txBox="1"/>
          <p:nvPr/>
        </p:nvSpPr>
        <p:spPr>
          <a:xfrm>
            <a:off x="0" y="2303959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Что может предпринять злоумышленник</a:t>
            </a:r>
          </a:p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для обхода антивирусной защиты?</a:t>
            </a:r>
            <a:endParaRPr lang="en-US" sz="3600" b="1" dirty="0" smtClean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B49C233-7C2A-D449-A942-086177863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4100"/>
            <a:ext cx="12192000" cy="1993900"/>
          </a:xfrm>
          <a:prstGeom prst="rect">
            <a:avLst/>
          </a:prstGeo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553" y="872412"/>
            <a:ext cx="1502137" cy="15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7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784" y="8039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41645"/>
            <a:ext cx="920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  <a:t>Обход механизма статического анализа</a:t>
            </a:r>
            <a:endParaRPr lang="ru-RU" sz="24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8442"/>
            <a:ext cx="12192000" cy="399557"/>
          </a:xfrm>
          <a:prstGeom prst="rect">
            <a:avLst/>
          </a:prstGeom>
        </p:spPr>
      </p:pic>
      <p:grpSp>
        <p:nvGrpSpPr>
          <p:cNvPr id="11" name="Группа 10"/>
          <p:cNvGrpSpPr/>
          <p:nvPr/>
        </p:nvGrpSpPr>
        <p:grpSpPr>
          <a:xfrm>
            <a:off x="495300" y="954925"/>
            <a:ext cx="7110753" cy="861774"/>
            <a:chOff x="495300" y="810541"/>
            <a:chExt cx="7110753" cy="861774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880907"/>
              <a:ext cx="228600" cy="228600"/>
            </a:xfrm>
            <a:prstGeom prst="rect">
              <a:avLst/>
            </a:prstGeom>
          </p:spPr>
        </p:pic>
        <p:sp>
          <p:nvSpPr>
            <p:cNvPr id="4" name="Прямоугольник 3"/>
            <p:cNvSpPr/>
            <p:nvPr/>
          </p:nvSpPr>
          <p:spPr>
            <a:xfrm>
              <a:off x="952500" y="810541"/>
              <a:ext cx="6653553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/>
                <a:t>Обфускация</a:t>
              </a:r>
              <a:r>
                <a:rPr lang="en-US" b="1" dirty="0"/>
                <a:t> </a:t>
              </a:r>
              <a:r>
                <a:rPr lang="en-US" b="1" dirty="0" err="1"/>
                <a:t>кода</a:t>
              </a:r>
              <a:r>
                <a:rPr lang="en-US" b="1" dirty="0"/>
                <a:t> и </a:t>
              </a:r>
              <a:r>
                <a:rPr lang="en-US" b="1" dirty="0" err="1" smtClean="0"/>
                <a:t>данных</a:t>
              </a:r>
              <a:r>
                <a:rPr lang="ru-RU" dirty="0" smtClean="0"/>
                <a:t/>
              </a:r>
              <a:br>
                <a:rPr lang="ru-RU" dirty="0" smtClean="0"/>
              </a:br>
              <a:r>
                <a:rPr lang="ru-RU" dirty="0" smtClean="0"/>
                <a:t>   </a:t>
              </a:r>
              <a:r>
                <a:rPr lang="ru-RU" sz="1400" i="1" dirty="0" smtClean="0">
                  <a:solidFill>
                    <a:srgbClr val="7030A0"/>
                  </a:solidFill>
                </a:rPr>
                <a:t>приведение </a:t>
              </a:r>
              <a:r>
                <a:rPr lang="ru-RU" sz="1400" i="1" dirty="0">
                  <a:solidFill>
                    <a:srgbClr val="7030A0"/>
                  </a:solidFill>
                </a:rPr>
                <a:t>исходного или исполняемого кода </a:t>
              </a:r>
              <a:r>
                <a:rPr lang="ru-RU" sz="1400" i="1" dirty="0" smtClean="0">
                  <a:solidFill>
                    <a:srgbClr val="7030A0"/>
                  </a:solidFill>
                </a:rPr>
                <a:t>программы к виду, сохраняющему </a:t>
              </a:r>
            </a:p>
            <a:p>
              <a:r>
                <a:rPr lang="ru-RU" sz="1400" i="1" dirty="0">
                  <a:solidFill>
                    <a:srgbClr val="7030A0"/>
                  </a:solidFill>
                </a:rPr>
                <a:t> </a:t>
              </a:r>
              <a:r>
                <a:rPr lang="ru-RU" sz="1400" i="1" dirty="0" smtClean="0">
                  <a:solidFill>
                    <a:srgbClr val="7030A0"/>
                  </a:solidFill>
                </a:rPr>
                <a:t>  её </a:t>
              </a:r>
              <a:r>
                <a:rPr lang="ru-RU" sz="1400" i="1" dirty="0">
                  <a:solidFill>
                    <a:srgbClr val="7030A0"/>
                  </a:solidFill>
                </a:rPr>
                <a:t>функциональность, </a:t>
              </a:r>
              <a:r>
                <a:rPr lang="ru-RU" sz="1400" i="1" dirty="0" smtClean="0">
                  <a:solidFill>
                    <a:srgbClr val="7030A0"/>
                  </a:solidFill>
                </a:rPr>
                <a:t>но </a:t>
              </a:r>
              <a:r>
                <a:rPr lang="ru-RU" sz="1400" i="1" dirty="0">
                  <a:solidFill>
                    <a:srgbClr val="7030A0"/>
                  </a:solidFill>
                </a:rPr>
                <a:t>затрудняющему </a:t>
              </a:r>
              <a:r>
                <a:rPr lang="ru-RU" sz="1400" i="1" dirty="0" smtClean="0">
                  <a:solidFill>
                    <a:srgbClr val="7030A0"/>
                  </a:solidFill>
                </a:rPr>
                <a:t>анализ инструментами или вручную</a:t>
              </a:r>
              <a:endParaRPr lang="en-US" sz="1400" i="1" dirty="0">
                <a:solidFill>
                  <a:srgbClr val="7030A0"/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261021"/>
            <a:ext cx="228600" cy="2286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52500" y="4190655"/>
            <a:ext cx="55523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Использование упаковщиков или </a:t>
            </a:r>
            <a:r>
              <a:rPr lang="ru-RU" b="1" dirty="0" err="1" smtClean="0"/>
              <a:t>крипторов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    </a:t>
            </a:r>
            <a:r>
              <a:rPr lang="ru-RU" sz="1400" i="1" dirty="0" smtClean="0">
                <a:solidFill>
                  <a:srgbClr val="7030A0"/>
                </a:solidFill>
              </a:rPr>
              <a:t>упаковка вредоносного ПО в контейнер не вызывающий опасений</a:t>
            </a:r>
            <a:endParaRPr lang="en-US" sz="1600" i="1" dirty="0">
              <a:solidFill>
                <a:srgbClr val="7030A0"/>
              </a:solidFill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952500" y="1773279"/>
            <a:ext cx="5888900" cy="830997"/>
            <a:chOff x="952500" y="1640930"/>
            <a:chExt cx="5888900" cy="830997"/>
          </a:xfrm>
        </p:grpSpPr>
        <p:sp>
          <p:nvSpPr>
            <p:cNvPr id="13" name="Овал 12"/>
            <p:cNvSpPr/>
            <p:nvPr/>
          </p:nvSpPr>
          <p:spPr>
            <a:xfrm>
              <a:off x="952500" y="1751606"/>
              <a:ext cx="133350" cy="1333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1085850" y="1640930"/>
              <a:ext cx="5755550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b="1" dirty="0" smtClean="0"/>
                <a:t>Данных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К</a:t>
              </a:r>
              <a:r>
                <a:rPr lang="en-US" sz="1600" dirty="0" err="1" smtClean="0"/>
                <a:t>одирование</a:t>
              </a:r>
              <a:r>
                <a:rPr lang="en-US" sz="1600" dirty="0" smtClean="0"/>
                <a:t> </a:t>
              </a:r>
              <a:r>
                <a:rPr lang="en-US" sz="1600" dirty="0" err="1"/>
                <a:t>или</a:t>
              </a:r>
              <a:r>
                <a:rPr lang="en-US" sz="1600" dirty="0"/>
                <a:t> </a:t>
              </a:r>
              <a:r>
                <a:rPr lang="en-US" sz="1600" dirty="0" err="1" smtClean="0"/>
                <a:t>шифрование</a:t>
              </a:r>
              <a:r>
                <a:rPr lang="ru-RU" sz="1600" dirty="0" smtClean="0"/>
                <a:t> (например строк)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Использование </a:t>
              </a:r>
              <a:r>
                <a:rPr lang="ru-RU" sz="1600" dirty="0" err="1" smtClean="0"/>
                <a:t>стегоконтейнеров</a:t>
              </a:r>
              <a:r>
                <a:rPr lang="ru-RU" sz="1600" dirty="0" smtClean="0"/>
                <a:t> (например изображений)</a:t>
              </a: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952500" y="2502907"/>
            <a:ext cx="6329662" cy="2062103"/>
            <a:chOff x="952500" y="2448763"/>
            <a:chExt cx="6329662" cy="2062103"/>
          </a:xfrm>
        </p:grpSpPr>
        <p:sp>
          <p:nvSpPr>
            <p:cNvPr id="17" name="Овал 16"/>
            <p:cNvSpPr/>
            <p:nvPr/>
          </p:nvSpPr>
          <p:spPr>
            <a:xfrm>
              <a:off x="952500" y="2559439"/>
              <a:ext cx="133350" cy="1333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1085850" y="2448763"/>
              <a:ext cx="6196312" cy="20621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600" b="1" dirty="0" smtClean="0"/>
                <a:t>Кода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/>
                <a:t>На</a:t>
              </a:r>
              <a:r>
                <a:rPr lang="en-US" sz="1600" dirty="0"/>
                <a:t> </a:t>
              </a:r>
              <a:r>
                <a:rPr lang="en-US" sz="1600" dirty="0" err="1"/>
                <a:t>уровне</a:t>
              </a:r>
              <a:r>
                <a:rPr lang="en-US" sz="1600" dirty="0"/>
                <a:t> </a:t>
              </a:r>
              <a:r>
                <a:rPr lang="en-US" sz="1600" dirty="0" err="1"/>
                <a:t>исходного</a:t>
              </a:r>
              <a:r>
                <a:rPr lang="en-US" sz="1600" dirty="0"/>
                <a:t> </a:t>
              </a:r>
              <a:r>
                <a:rPr lang="en-US" sz="1600" dirty="0" err="1" smtClean="0"/>
                <a:t>кода</a:t>
              </a:r>
              <a:endParaRPr lang="ru-RU" sz="1600" dirty="0" smtClean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Замусоривание и ложное ветвление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Сокрытие системных вызовов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На уровне объектного кода</a:t>
              </a:r>
            </a:p>
            <a:p>
              <a:pPr marL="742950" lvl="2" indent="-285750">
                <a:buFont typeface="Arial" panose="020B0604020202020204" pitchFamily="34" charset="0"/>
                <a:buChar char="•"/>
              </a:pPr>
              <a:r>
                <a:rPr lang="ru-RU" sz="1600" dirty="0"/>
                <a:t>Замусоривание </a:t>
              </a:r>
              <a:r>
                <a:rPr lang="ru-RU" sz="1600" dirty="0" smtClean="0"/>
                <a:t>и </a:t>
              </a:r>
              <a:r>
                <a:rPr lang="ru-RU" sz="1600" dirty="0"/>
                <a:t>ошибочное </a:t>
              </a:r>
              <a:r>
                <a:rPr lang="ru-RU" sz="1600" dirty="0" smtClean="0"/>
                <a:t>ветвление</a:t>
              </a:r>
            </a:p>
            <a:p>
              <a:pPr marL="742950" lvl="2" indent="-285750">
                <a:buFont typeface="Arial" panose="020B0604020202020204" pitchFamily="34" charset="0"/>
                <a:buChar char="•"/>
              </a:pPr>
              <a:r>
                <a:rPr lang="ru-RU" sz="1600" dirty="0" smtClean="0"/>
                <a:t>Замена инструкций нестандартными последовательностями</a:t>
              </a:r>
            </a:p>
            <a:p>
              <a:pPr marL="742950" lvl="2" indent="-285750">
                <a:buFont typeface="Arial" panose="020B0604020202020204" pitchFamily="34" charset="0"/>
                <a:buChar char="•"/>
              </a:pPr>
              <a:endParaRPr lang="ru-RU" sz="1600" dirty="0" smtClean="0"/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05914"/>
            <a:ext cx="228600" cy="228600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952500" y="4735548"/>
            <a:ext cx="6463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Мимикрия</a:t>
            </a:r>
            <a:br>
              <a:rPr lang="ru-RU" b="1" dirty="0" smtClean="0"/>
            </a:br>
            <a:r>
              <a:rPr lang="ru-RU" b="1" dirty="0" smtClean="0"/>
              <a:t>    </a:t>
            </a:r>
            <a:r>
              <a:rPr lang="ru-RU" sz="1400" i="1" dirty="0" smtClean="0">
                <a:solidFill>
                  <a:srgbClr val="7030A0"/>
                </a:solidFill>
              </a:rPr>
              <a:t>подражание или маскировка под обычное приложение </a:t>
            </a:r>
            <a:endParaRPr lang="ru-RU" sz="1600" b="1" dirty="0">
              <a:solidFill>
                <a:srgbClr val="7030A0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085850" y="5418628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Прямоугольник 21"/>
          <p:cNvSpPr/>
          <p:nvPr/>
        </p:nvSpPr>
        <p:spPr>
          <a:xfrm>
            <a:off x="1219200" y="5307952"/>
            <a:ext cx="65539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Внедрение в доверенное приложение </a:t>
            </a:r>
            <a:r>
              <a:rPr lang="ru-RU" sz="1600" dirty="0" smtClean="0"/>
              <a:t>(</a:t>
            </a:r>
            <a:r>
              <a:rPr lang="ru-RU" sz="1600" i="1" dirty="0" smtClean="0"/>
              <a:t>не теряет функциональности</a:t>
            </a:r>
            <a:r>
              <a:rPr lang="ru-RU" sz="1600" dirty="0" smtClean="0"/>
              <a:t>)</a:t>
            </a:r>
            <a:endParaRPr lang="ru-RU" sz="1600" i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1085850" y="5719701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Прямоугольник 23"/>
          <p:cNvSpPr/>
          <p:nvPr/>
        </p:nvSpPr>
        <p:spPr>
          <a:xfrm>
            <a:off x="1219200" y="5609025"/>
            <a:ext cx="49427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Подражание безопасному приложению</a:t>
            </a:r>
            <a:br>
              <a:rPr lang="ru-RU" sz="1600" b="1" dirty="0" smtClean="0"/>
            </a:br>
            <a:r>
              <a:rPr lang="ru-RU" sz="1600" b="1" dirty="0" smtClean="0"/>
              <a:t>               </a:t>
            </a:r>
            <a:r>
              <a:rPr lang="ru-RU" sz="1500" i="1" dirty="0" smtClean="0">
                <a:solidFill>
                  <a:srgbClr val="7030A0"/>
                </a:solidFill>
              </a:rPr>
              <a:t>создание мусорных диалогов, изображений и др.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6196540"/>
            <a:ext cx="228600" cy="228600"/>
          </a:xfrm>
          <a:prstGeom prst="rect">
            <a:avLst/>
          </a:prstGeom>
        </p:spPr>
      </p:pic>
      <p:sp>
        <p:nvSpPr>
          <p:cNvPr id="42" name="Прямоугольник 41"/>
          <p:cNvSpPr/>
          <p:nvPr/>
        </p:nvSpPr>
        <p:spPr>
          <a:xfrm>
            <a:off x="952499" y="6126174"/>
            <a:ext cx="3514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 smtClean="0"/>
              <a:t>Комбининации</a:t>
            </a:r>
            <a:r>
              <a:rPr lang="ru-RU" b="1" dirty="0" smtClean="0"/>
              <a:t> и другие техники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389" y="973869"/>
            <a:ext cx="3216878" cy="847811"/>
          </a:xfrm>
          <a:prstGeom prst="rect">
            <a:avLst/>
          </a:prstGeom>
        </p:spPr>
      </p:pic>
      <p:grpSp>
        <p:nvGrpSpPr>
          <p:cNvPr id="27" name="Группа 26"/>
          <p:cNvGrpSpPr/>
          <p:nvPr/>
        </p:nvGrpSpPr>
        <p:grpSpPr>
          <a:xfrm>
            <a:off x="8724791" y="712259"/>
            <a:ext cx="3318476" cy="2983874"/>
            <a:chOff x="8437440" y="1089792"/>
            <a:chExt cx="3642905" cy="3275589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37440" y="2812125"/>
              <a:ext cx="3642905" cy="1389048"/>
            </a:xfrm>
            <a:prstGeom prst="rect">
              <a:avLst/>
            </a:prstGeom>
          </p:spPr>
        </p:pic>
        <p:sp>
          <p:nvSpPr>
            <p:cNvPr id="8" name="Прямоугольник 7"/>
            <p:cNvSpPr/>
            <p:nvPr/>
          </p:nvSpPr>
          <p:spPr>
            <a:xfrm>
              <a:off x="9827826" y="2461792"/>
              <a:ext cx="1397569" cy="2871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 err="1" smtClean="0">
                  <a:solidFill>
                    <a:srgbClr val="7030A0"/>
                  </a:solidFill>
                </a:rPr>
                <a:t>Обфускация</a:t>
              </a:r>
              <a:r>
                <a:rPr lang="en-US" sz="1100" b="1" dirty="0" smtClean="0">
                  <a:solidFill>
                    <a:srgbClr val="7030A0"/>
                  </a:solidFill>
                </a:rPr>
                <a:t> </a:t>
              </a:r>
              <a:r>
                <a:rPr lang="ru-RU" sz="1100" b="1" dirty="0" smtClean="0">
                  <a:solidFill>
                    <a:srgbClr val="7030A0"/>
                  </a:solidFill>
                </a:rPr>
                <a:t>кода</a:t>
              </a:r>
              <a:endParaRPr lang="en-US" sz="1100" dirty="0">
                <a:solidFill>
                  <a:srgbClr val="7030A0"/>
                </a:solidFill>
              </a:endParaRPr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9165400" y="4078195"/>
              <a:ext cx="202791" cy="2871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1100" dirty="0">
                <a:solidFill>
                  <a:srgbClr val="7030A0"/>
                </a:solidFill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8701127" y="1089792"/>
              <a:ext cx="3305106" cy="2871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100" b="1" dirty="0" smtClean="0">
                  <a:solidFill>
                    <a:srgbClr val="7030A0"/>
                  </a:solidFill>
                </a:rPr>
                <a:t>Кодирование, шифрование, </a:t>
              </a:r>
              <a:r>
                <a:rPr lang="ru-RU" sz="1100" b="1" dirty="0" err="1" smtClean="0">
                  <a:solidFill>
                    <a:srgbClr val="7030A0"/>
                  </a:solidFill>
                </a:rPr>
                <a:t>стегоконтейнеры</a:t>
              </a:r>
              <a:endParaRPr lang="en-US" sz="11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8" name="Прямоугольник 27"/>
          <p:cNvSpPr/>
          <p:nvPr/>
        </p:nvSpPr>
        <p:spPr>
          <a:xfrm>
            <a:off x="2047645" y="554127"/>
            <a:ext cx="4731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Цель </a:t>
            </a:r>
            <a:r>
              <a:rPr lang="en-US" b="1" dirty="0" smtClean="0">
                <a:solidFill>
                  <a:srgbClr val="C00000"/>
                </a:solidFill>
              </a:rPr>
              <a:t>– </a:t>
            </a:r>
            <a:r>
              <a:rPr lang="ru-RU" b="1" dirty="0" smtClean="0">
                <a:solidFill>
                  <a:srgbClr val="C00000"/>
                </a:solidFill>
              </a:rPr>
              <a:t>скрыть «опасные» функции и данные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112" y="4811547"/>
            <a:ext cx="1204560" cy="801579"/>
          </a:xfrm>
          <a:prstGeom prst="rect">
            <a:avLst/>
          </a:prstGeom>
        </p:spPr>
      </p:pic>
      <p:grpSp>
        <p:nvGrpSpPr>
          <p:cNvPr id="33" name="Группа 32"/>
          <p:cNvGrpSpPr/>
          <p:nvPr/>
        </p:nvGrpSpPr>
        <p:grpSpPr>
          <a:xfrm>
            <a:off x="9512294" y="3595944"/>
            <a:ext cx="2430474" cy="736440"/>
            <a:chOff x="9512294" y="3434017"/>
            <a:chExt cx="2430474" cy="736440"/>
          </a:xfrm>
        </p:grpSpPr>
        <p:pic>
          <p:nvPicPr>
            <p:cNvPr id="39" name="Рисунок 3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79393" y="3642195"/>
              <a:ext cx="1497025" cy="528262"/>
            </a:xfrm>
            <a:prstGeom prst="rect">
              <a:avLst/>
            </a:prstGeom>
          </p:spPr>
        </p:pic>
        <p:sp>
          <p:nvSpPr>
            <p:cNvPr id="29" name="Прямоугольник 28"/>
            <p:cNvSpPr/>
            <p:nvPr/>
          </p:nvSpPr>
          <p:spPr>
            <a:xfrm>
              <a:off x="9512294" y="3434017"/>
              <a:ext cx="243047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100" b="1" dirty="0">
                  <a:solidFill>
                    <a:srgbClr val="7030A0"/>
                  </a:solidFill>
                </a:rPr>
                <a:t>Нестандартные последовательности</a:t>
              </a:r>
              <a:endParaRPr lang="en-US" sz="11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9874166" y="4261021"/>
            <a:ext cx="1883027" cy="1398923"/>
            <a:chOff x="9878929" y="4187626"/>
            <a:chExt cx="1883027" cy="1398923"/>
          </a:xfrm>
        </p:grpSpPr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97979" y="4423213"/>
              <a:ext cx="1817198" cy="584341"/>
            </a:xfrm>
            <a:prstGeom prst="rect">
              <a:avLst/>
            </a:prstGeom>
          </p:spPr>
        </p:pic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878929" y="4981041"/>
              <a:ext cx="1883027" cy="605508"/>
            </a:xfrm>
            <a:prstGeom prst="rect">
              <a:avLst/>
            </a:prstGeom>
          </p:spPr>
        </p:pic>
        <p:sp>
          <p:nvSpPr>
            <p:cNvPr id="36" name="Прямоугольник 35"/>
            <p:cNvSpPr/>
            <p:nvPr/>
          </p:nvSpPr>
          <p:spPr>
            <a:xfrm>
              <a:off x="9913162" y="4187626"/>
              <a:ext cx="170912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100" b="1" dirty="0" smtClean="0">
                  <a:solidFill>
                    <a:srgbClr val="7030A0"/>
                  </a:solidFill>
                </a:rPr>
                <a:t>Упаковщики и </a:t>
              </a:r>
              <a:r>
                <a:rPr lang="ru-RU" sz="1100" b="1" dirty="0" err="1" smtClean="0">
                  <a:solidFill>
                    <a:srgbClr val="7030A0"/>
                  </a:solidFill>
                </a:rPr>
                <a:t>крипторы</a:t>
              </a:r>
              <a:endParaRPr lang="en-US" sz="11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9387921" y="5664040"/>
            <a:ext cx="2587371" cy="800114"/>
            <a:chOff x="9014459" y="5462810"/>
            <a:chExt cx="2960833" cy="915600"/>
          </a:xfrm>
        </p:grpSpPr>
        <p:pic>
          <p:nvPicPr>
            <p:cNvPr id="40" name="Рисунок 3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14459" y="5747408"/>
              <a:ext cx="2960833" cy="631002"/>
            </a:xfrm>
            <a:prstGeom prst="rect">
              <a:avLst/>
            </a:prstGeom>
          </p:spPr>
        </p:pic>
        <p:sp>
          <p:nvSpPr>
            <p:cNvPr id="37" name="Прямоугольник 36"/>
            <p:cNvSpPr/>
            <p:nvPr/>
          </p:nvSpPr>
          <p:spPr>
            <a:xfrm>
              <a:off x="9615488" y="5462810"/>
              <a:ext cx="2224087" cy="261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100" b="1" dirty="0" smtClean="0">
                  <a:solidFill>
                    <a:srgbClr val="7030A0"/>
                  </a:solidFill>
                </a:rPr>
                <a:t>Мимикрия</a:t>
              </a:r>
              <a:endParaRPr lang="en-US" sz="1100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985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1508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12698"/>
            <a:ext cx="9206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2A1990"/>
                </a:solidFill>
                <a:latin typeface="Helvetica" pitchFamily="2" charset="0"/>
              </a:rPr>
              <a:t>Обход механизма эмуляции</a:t>
            </a:r>
            <a:endParaRPr lang="ru-RU" sz="30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grpSp>
        <p:nvGrpSpPr>
          <p:cNvPr id="6" name="Группа 5"/>
          <p:cNvGrpSpPr/>
          <p:nvPr/>
        </p:nvGrpSpPr>
        <p:grpSpPr>
          <a:xfrm>
            <a:off x="495300" y="1951758"/>
            <a:ext cx="5715819" cy="923330"/>
            <a:chOff x="495300" y="2292989"/>
            <a:chExt cx="5715819" cy="923330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2371090"/>
              <a:ext cx="228600" cy="228600"/>
            </a:xfrm>
            <a:prstGeom prst="rect">
              <a:avLst/>
            </a:prstGeom>
          </p:spPr>
        </p:pic>
        <p:sp>
          <p:nvSpPr>
            <p:cNvPr id="7" name="Прямоугольник 6"/>
            <p:cNvSpPr/>
            <p:nvPr/>
          </p:nvSpPr>
          <p:spPr>
            <a:xfrm>
              <a:off x="952500" y="2292989"/>
              <a:ext cx="525861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/>
                <a:t>Неэмулируемые</a:t>
              </a:r>
              <a:r>
                <a:rPr lang="en-US" b="1" dirty="0"/>
                <a:t> </a:t>
              </a:r>
              <a:r>
                <a:rPr lang="en-US" b="1" dirty="0" err="1" smtClean="0"/>
                <a:t>инструкции</a:t>
              </a:r>
              <a:r>
                <a:rPr lang="ru-RU" dirty="0" smtClean="0"/>
                <a:t/>
              </a:r>
              <a:br>
                <a:rPr lang="ru-RU" dirty="0" smtClean="0"/>
              </a:br>
              <a:r>
                <a:rPr lang="ru-RU" dirty="0" smtClean="0"/>
                <a:t>	</a:t>
              </a:r>
              <a:r>
                <a:rPr lang="ru-RU" i="1" dirty="0" smtClean="0">
                  <a:solidFill>
                    <a:srgbClr val="7030A0"/>
                  </a:solidFill>
                </a:rPr>
                <a:t>т.е. использовать инструкции, которые</a:t>
              </a:r>
              <a:br>
                <a:rPr lang="ru-RU" i="1" dirty="0" smtClean="0">
                  <a:solidFill>
                    <a:srgbClr val="7030A0"/>
                  </a:solidFill>
                </a:rPr>
              </a:br>
              <a:r>
                <a:rPr lang="ru-RU" i="1" dirty="0" smtClean="0">
                  <a:solidFill>
                    <a:srgbClr val="7030A0"/>
                  </a:solidFill>
                </a:rPr>
                <a:t>	не могут быть </a:t>
              </a:r>
              <a:r>
                <a:rPr lang="ru-RU" i="1" dirty="0" err="1" smtClean="0">
                  <a:solidFill>
                    <a:srgbClr val="7030A0"/>
                  </a:solidFill>
                </a:rPr>
                <a:t>сэмулированны</a:t>
              </a:r>
              <a:r>
                <a:rPr lang="ru-RU" i="1" dirty="0" smtClean="0">
                  <a:solidFill>
                    <a:srgbClr val="7030A0"/>
                  </a:solidFill>
                </a:rPr>
                <a:t> в среде</a:t>
              </a:r>
              <a:endParaRPr lang="ru-RU" i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495300" y="2867340"/>
            <a:ext cx="6879792" cy="1200329"/>
            <a:chOff x="495300" y="3396592"/>
            <a:chExt cx="6879792" cy="1200329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3474556"/>
              <a:ext cx="228600" cy="228600"/>
            </a:xfrm>
            <a:prstGeom prst="rect">
              <a:avLst/>
            </a:prstGeom>
          </p:spPr>
        </p:pic>
        <p:sp>
          <p:nvSpPr>
            <p:cNvPr id="12" name="Прямоугольник 11"/>
            <p:cNvSpPr/>
            <p:nvPr/>
          </p:nvSpPr>
          <p:spPr>
            <a:xfrm>
              <a:off x="952500" y="3396592"/>
              <a:ext cx="6422592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err="1"/>
                <a:t>Неэмулируемое</a:t>
              </a:r>
              <a:r>
                <a:rPr lang="ru-RU" b="1" dirty="0"/>
                <a:t> </a:t>
              </a:r>
              <a:r>
                <a:rPr lang="ru-RU" b="1" dirty="0" smtClean="0"/>
                <a:t>окружение</a:t>
              </a:r>
              <a:r>
                <a:rPr lang="ru-RU" dirty="0" smtClean="0"/>
                <a:t/>
              </a:r>
              <a:br>
                <a:rPr lang="ru-RU" dirty="0" smtClean="0"/>
              </a:br>
              <a:r>
                <a:rPr lang="ru-RU" dirty="0" smtClean="0"/>
                <a:t>	</a:t>
              </a:r>
              <a:r>
                <a:rPr lang="ru-RU" i="1" dirty="0" smtClean="0">
                  <a:solidFill>
                    <a:srgbClr val="7030A0"/>
                  </a:solidFill>
                </a:rPr>
                <a:t>или невыполнимые условия т.е. наличие файла, </a:t>
              </a:r>
              <a:br>
                <a:rPr lang="ru-RU" i="1" dirty="0" smtClean="0">
                  <a:solidFill>
                    <a:srgbClr val="7030A0"/>
                  </a:solidFill>
                </a:rPr>
              </a:br>
              <a:r>
                <a:rPr lang="ru-RU" i="1" dirty="0" smtClean="0">
                  <a:solidFill>
                    <a:srgbClr val="7030A0"/>
                  </a:solidFill>
                </a:rPr>
                <a:t>	приложения, процесса, событий пользователя</a:t>
              </a:r>
              <a:br>
                <a:rPr lang="ru-RU" i="1" dirty="0" smtClean="0">
                  <a:solidFill>
                    <a:srgbClr val="7030A0"/>
                  </a:solidFill>
                </a:rPr>
              </a:br>
              <a:r>
                <a:rPr lang="ru-RU" i="1" dirty="0" smtClean="0">
                  <a:solidFill>
                    <a:srgbClr val="7030A0"/>
                  </a:solidFill>
                </a:rPr>
                <a:t>	или ОС и др., которые не могут быть </a:t>
              </a:r>
              <a:r>
                <a:rPr lang="ru-RU" i="1" dirty="0" err="1" smtClean="0">
                  <a:solidFill>
                    <a:srgbClr val="7030A0"/>
                  </a:solidFill>
                </a:rPr>
                <a:t>сэмулированы</a:t>
              </a:r>
              <a:endParaRPr lang="en-US" i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495300" y="4179887"/>
            <a:ext cx="7187889" cy="1200329"/>
            <a:chOff x="495300" y="4497312"/>
            <a:chExt cx="7187889" cy="1200329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4578022"/>
              <a:ext cx="228600" cy="228600"/>
            </a:xfrm>
            <a:prstGeom prst="rect">
              <a:avLst/>
            </a:prstGeom>
          </p:spPr>
        </p:pic>
        <p:sp>
          <p:nvSpPr>
            <p:cNvPr id="18" name="Прямоугольник 17"/>
            <p:cNvSpPr/>
            <p:nvPr/>
          </p:nvSpPr>
          <p:spPr>
            <a:xfrm>
              <a:off x="952500" y="4497312"/>
              <a:ext cx="6730689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err="1" smtClean="0"/>
                <a:t>Времязатратные</a:t>
              </a:r>
              <a:r>
                <a:rPr lang="ru-RU" b="1" dirty="0" smtClean="0"/>
                <a:t> операции</a:t>
              </a:r>
              <a:br>
                <a:rPr lang="ru-RU" b="1" dirty="0" smtClean="0"/>
              </a:br>
              <a:r>
                <a:rPr lang="ru-RU" b="1" dirty="0" smtClean="0"/>
                <a:t>	</a:t>
              </a:r>
              <a:r>
                <a:rPr lang="ru-RU" i="1" dirty="0" smtClean="0">
                  <a:solidFill>
                    <a:srgbClr val="7030A0"/>
                  </a:solidFill>
                </a:rPr>
                <a:t>процесс эмуляции ограничен по времени, как пример -</a:t>
              </a:r>
              <a:r>
                <a:rPr lang="ru-RU" dirty="0" smtClean="0">
                  <a:solidFill>
                    <a:srgbClr val="7030A0"/>
                  </a:solidFill>
                </a:rPr>
                <a:t/>
              </a:r>
              <a:br>
                <a:rPr lang="ru-RU" dirty="0" smtClean="0">
                  <a:solidFill>
                    <a:srgbClr val="7030A0"/>
                  </a:solidFill>
                </a:rPr>
              </a:br>
              <a:r>
                <a:rPr lang="ru-RU" dirty="0" smtClean="0">
                  <a:solidFill>
                    <a:srgbClr val="7030A0"/>
                  </a:solidFill>
                </a:rPr>
                <a:t>	</a:t>
              </a:r>
              <a:r>
                <a:rPr lang="ru-RU" i="1" dirty="0" smtClean="0">
                  <a:solidFill>
                    <a:srgbClr val="7030A0"/>
                  </a:solidFill>
                </a:rPr>
                <a:t>могут</a:t>
              </a:r>
              <a:r>
                <a:rPr lang="ru-RU" dirty="0" smtClean="0">
                  <a:solidFill>
                    <a:srgbClr val="7030A0"/>
                  </a:solidFill>
                </a:rPr>
                <a:t> </a:t>
              </a:r>
              <a:r>
                <a:rPr lang="ru-RU" i="1" dirty="0" smtClean="0">
                  <a:solidFill>
                    <a:srgbClr val="7030A0"/>
                  </a:solidFill>
                </a:rPr>
                <a:t>использоваться сложные математические </a:t>
              </a:r>
              <a:br>
                <a:rPr lang="ru-RU" i="1" dirty="0" smtClean="0">
                  <a:solidFill>
                    <a:srgbClr val="7030A0"/>
                  </a:solidFill>
                </a:rPr>
              </a:br>
              <a:r>
                <a:rPr lang="ru-RU" i="1" dirty="0" smtClean="0">
                  <a:solidFill>
                    <a:srgbClr val="7030A0"/>
                  </a:solidFill>
                </a:rPr>
                <a:t>	функции,	требующие некоторого времени для решения</a:t>
              </a:r>
              <a:endParaRPr lang="ru-RU" i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495300" y="1161422"/>
            <a:ext cx="6296299" cy="646331"/>
            <a:chOff x="495300" y="1197258"/>
            <a:chExt cx="6296299" cy="646331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1267624"/>
              <a:ext cx="228600" cy="228600"/>
            </a:xfrm>
            <a:prstGeom prst="rect">
              <a:avLst/>
            </a:prstGeom>
          </p:spPr>
        </p:pic>
        <p:sp>
          <p:nvSpPr>
            <p:cNvPr id="13" name="Прямоугольник 12"/>
            <p:cNvSpPr/>
            <p:nvPr/>
          </p:nvSpPr>
          <p:spPr>
            <a:xfrm>
              <a:off x="952500" y="1197258"/>
              <a:ext cx="583909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smtClean="0"/>
                <a:t>Обнаружение эмулятора</a:t>
              </a:r>
              <a:r>
                <a:rPr lang="ru-RU" dirty="0" smtClean="0"/>
                <a:t/>
              </a:r>
              <a:br>
                <a:rPr lang="ru-RU" dirty="0" smtClean="0"/>
              </a:br>
              <a:r>
                <a:rPr lang="ru-RU" dirty="0" smtClean="0"/>
                <a:t>	</a:t>
              </a:r>
              <a:r>
                <a:rPr lang="ru-RU" i="1" dirty="0" smtClean="0">
                  <a:solidFill>
                    <a:srgbClr val="7030A0"/>
                  </a:solidFill>
                </a:rPr>
                <a:t>по наличию специфических признаков эмуляции</a:t>
              </a:r>
              <a:endParaRPr lang="en-US" i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495300" y="5599507"/>
            <a:ext cx="3704306" cy="369332"/>
            <a:chOff x="495300" y="5737700"/>
            <a:chExt cx="3704306" cy="369332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xmlns="" id="{7C9CECDA-4BE1-A54F-9959-B7A92639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5808066"/>
              <a:ext cx="228600" cy="228600"/>
            </a:xfrm>
            <a:prstGeom prst="rect">
              <a:avLst/>
            </a:prstGeom>
          </p:spPr>
        </p:pic>
        <p:sp>
          <p:nvSpPr>
            <p:cNvPr id="22" name="Прямоугольник 21"/>
            <p:cNvSpPr/>
            <p:nvPr/>
          </p:nvSpPr>
          <p:spPr>
            <a:xfrm>
              <a:off x="952499" y="5737700"/>
              <a:ext cx="32471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smtClean="0"/>
                <a:t>Комбинации и другие техники</a:t>
              </a:r>
              <a:endParaRPr lang="ru-RU" b="1" dirty="0"/>
            </a:p>
          </p:txBody>
        </p:sp>
      </p:grp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689" y="1082850"/>
            <a:ext cx="3413878" cy="4725108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495299" y="641886"/>
            <a:ext cx="8624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C00000"/>
                </a:solidFill>
              </a:rPr>
              <a:t>Цель </a:t>
            </a:r>
            <a:r>
              <a:rPr lang="en-US" b="1" dirty="0" smtClean="0">
                <a:solidFill>
                  <a:srgbClr val="C00000"/>
                </a:solidFill>
              </a:rPr>
              <a:t>– </a:t>
            </a:r>
            <a:r>
              <a:rPr lang="ru-RU" b="1" dirty="0" smtClean="0">
                <a:solidFill>
                  <a:srgbClr val="C00000"/>
                </a:solidFill>
              </a:rPr>
              <a:t>не обнаружить свое вредоносное поведение в виртуальной среде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8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09" y="53787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6601" y="71863"/>
            <a:ext cx="9206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2A1990"/>
                </a:solidFill>
                <a:latin typeface="Helvetica" pitchFamily="2" charset="0"/>
              </a:rPr>
              <a:t>Обход механизма поведенческого анализа</a:t>
            </a:r>
            <a:endParaRPr lang="ru-RU" sz="30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473872"/>
            <a:ext cx="228600" cy="2286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52500" y="1399507"/>
            <a:ext cx="470430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 smtClean="0"/>
              <a:t>Обфускация</a:t>
            </a:r>
            <a:r>
              <a:rPr lang="ru-RU" b="1" dirty="0" smtClean="0"/>
              <a:t> и замусоривание функционала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i="1" dirty="0" smtClean="0"/>
              <a:t>	</a:t>
            </a:r>
            <a:r>
              <a:rPr lang="ru-RU" sz="1400" i="1" dirty="0" smtClean="0">
                <a:solidFill>
                  <a:srgbClr val="7030A0"/>
                </a:solidFill>
              </a:rPr>
              <a:t>т.е. генерация бесполезных данных, а так же</a:t>
            </a:r>
          </a:p>
          <a:p>
            <a:r>
              <a:rPr lang="ru-RU" sz="1400" i="1" dirty="0">
                <a:solidFill>
                  <a:srgbClr val="7030A0"/>
                </a:solidFill>
              </a:rPr>
              <a:t>	</a:t>
            </a:r>
            <a:r>
              <a:rPr lang="ru-RU" sz="1400" i="1" dirty="0" smtClean="0">
                <a:solidFill>
                  <a:srgbClr val="7030A0"/>
                </a:solidFill>
              </a:rPr>
              <a:t>функций работы с ними и дальнейший</a:t>
            </a:r>
            <a:endParaRPr lang="en-US" sz="1400" i="1" dirty="0">
              <a:solidFill>
                <a:srgbClr val="7030A0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952500" y="2308389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Прямоугольник 11"/>
          <p:cNvSpPr/>
          <p:nvPr/>
        </p:nvSpPr>
        <p:spPr>
          <a:xfrm>
            <a:off x="1085850" y="2197713"/>
            <a:ext cx="1306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Статическая </a:t>
            </a:r>
            <a:endParaRPr lang="en-US" sz="1600" b="1" dirty="0"/>
          </a:p>
        </p:txBody>
      </p:sp>
      <p:sp>
        <p:nvSpPr>
          <p:cNvPr id="17" name="Овал 16"/>
          <p:cNvSpPr/>
          <p:nvPr/>
        </p:nvSpPr>
        <p:spPr>
          <a:xfrm>
            <a:off x="964952" y="3029574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Прямоугольник 17"/>
          <p:cNvSpPr/>
          <p:nvPr/>
        </p:nvSpPr>
        <p:spPr>
          <a:xfrm>
            <a:off x="1098302" y="2918898"/>
            <a:ext cx="15013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Динамическая</a:t>
            </a:r>
            <a:endParaRPr lang="en-US" sz="1600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871323" y="2420886"/>
            <a:ext cx="4282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1" dirty="0" smtClean="0">
                <a:solidFill>
                  <a:srgbClr val="7030A0"/>
                </a:solidFill>
              </a:rPr>
              <a:t>до или во время сборки ПО, изменение</a:t>
            </a:r>
            <a:br>
              <a:rPr lang="ru-RU" sz="1400" i="1" dirty="0" smtClean="0">
                <a:solidFill>
                  <a:srgbClr val="7030A0"/>
                </a:solidFill>
              </a:rPr>
            </a:br>
            <a:r>
              <a:rPr lang="ru-RU" sz="1400" i="1" dirty="0" smtClean="0">
                <a:solidFill>
                  <a:srgbClr val="7030A0"/>
                </a:solidFill>
              </a:rPr>
              <a:t>исходного или  объектного кода</a:t>
            </a:r>
            <a:endParaRPr lang="en-US" sz="1400" i="1" dirty="0">
              <a:solidFill>
                <a:srgbClr val="7030A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896856" y="3142068"/>
            <a:ext cx="42572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1" dirty="0" smtClean="0">
                <a:solidFill>
                  <a:srgbClr val="7030A0"/>
                </a:solidFill>
              </a:rPr>
              <a:t>во время работы ПО (динамический генератор мусора)</a:t>
            </a:r>
            <a:endParaRPr lang="en-US" sz="1400" i="1" dirty="0">
              <a:solidFill>
                <a:srgbClr val="7030A0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624831"/>
            <a:ext cx="228600" cy="228600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952500" y="3554465"/>
            <a:ext cx="426020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Мимикрия</a:t>
            </a:r>
            <a:br>
              <a:rPr lang="ru-RU" b="1" dirty="0" smtClean="0"/>
            </a:br>
            <a:r>
              <a:rPr lang="ru-RU" b="1" dirty="0" smtClean="0"/>
              <a:t>	</a:t>
            </a:r>
            <a:r>
              <a:rPr lang="ru-RU" sz="1400" i="1" dirty="0" smtClean="0">
                <a:solidFill>
                  <a:srgbClr val="7030A0"/>
                </a:solidFill>
              </a:rPr>
              <a:t>т.е. подражание или маскировка</a:t>
            </a:r>
            <a:br>
              <a:rPr lang="ru-RU" sz="1400" i="1" dirty="0" smtClean="0">
                <a:solidFill>
                  <a:srgbClr val="7030A0"/>
                </a:solidFill>
              </a:rPr>
            </a:br>
            <a:r>
              <a:rPr lang="ru-RU" sz="1400" i="1" dirty="0" smtClean="0">
                <a:solidFill>
                  <a:srgbClr val="7030A0"/>
                </a:solidFill>
              </a:rPr>
              <a:t>	внедрение в доверенное ПО или процесс </a:t>
            </a:r>
            <a:endParaRPr lang="ru-RU" sz="1400" b="1" dirty="0">
              <a:solidFill>
                <a:srgbClr val="7030A0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5761287"/>
            <a:ext cx="228600" cy="228600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952499" y="5690921"/>
            <a:ext cx="3247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Комбинации и другие техники</a:t>
            </a:r>
            <a:endParaRPr lang="ru-RU" b="1" dirty="0"/>
          </a:p>
        </p:txBody>
      </p:sp>
      <p:sp>
        <p:nvSpPr>
          <p:cNvPr id="23" name="Овал 22"/>
          <p:cNvSpPr/>
          <p:nvPr/>
        </p:nvSpPr>
        <p:spPr>
          <a:xfrm>
            <a:off x="964952" y="4494148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Прямоугольник 23"/>
          <p:cNvSpPr/>
          <p:nvPr/>
        </p:nvSpPr>
        <p:spPr>
          <a:xfrm>
            <a:off x="1098302" y="4383472"/>
            <a:ext cx="1306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Статическая </a:t>
            </a:r>
            <a:endParaRPr lang="en-US" sz="1600" b="1" dirty="0"/>
          </a:p>
        </p:txBody>
      </p:sp>
      <p:sp>
        <p:nvSpPr>
          <p:cNvPr id="25" name="Овал 24"/>
          <p:cNvSpPr/>
          <p:nvPr/>
        </p:nvSpPr>
        <p:spPr>
          <a:xfrm>
            <a:off x="952499" y="5186714"/>
            <a:ext cx="133350" cy="13335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Прямоугольник 25"/>
          <p:cNvSpPr/>
          <p:nvPr/>
        </p:nvSpPr>
        <p:spPr>
          <a:xfrm>
            <a:off x="1085849" y="5076038"/>
            <a:ext cx="15013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Динамическая</a:t>
            </a:r>
            <a:endParaRPr lang="en-US" sz="1600" b="1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1884402" y="4620642"/>
            <a:ext cx="5394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1" dirty="0" smtClean="0">
                <a:solidFill>
                  <a:srgbClr val="7030A0"/>
                </a:solidFill>
              </a:rPr>
              <a:t>внедрение в доверенное приложение, ПО не теряет функциональность работает параллельно (имитация процесса)</a:t>
            </a:r>
            <a:endParaRPr lang="en-US" sz="1400" i="1" dirty="0">
              <a:solidFill>
                <a:srgbClr val="7030A0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1871951" y="5322142"/>
            <a:ext cx="34314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i="1" dirty="0">
                <a:solidFill>
                  <a:srgbClr val="7030A0"/>
                </a:solidFill>
              </a:rPr>
              <a:t>в</a:t>
            </a:r>
            <a:r>
              <a:rPr lang="ru-RU" sz="1400" i="1" dirty="0" smtClean="0">
                <a:solidFill>
                  <a:srgbClr val="7030A0"/>
                </a:solidFill>
              </a:rPr>
              <a:t>недрение в доверенный рабочий процесс</a:t>
            </a:r>
            <a:endParaRPr lang="en-US" sz="1400" i="1" dirty="0">
              <a:solidFill>
                <a:srgbClr val="7030A0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7203443" y="1043939"/>
            <a:ext cx="4874248" cy="4598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Прямоугольник 30"/>
          <p:cNvSpPr/>
          <p:nvPr/>
        </p:nvSpPr>
        <p:spPr>
          <a:xfrm>
            <a:off x="7399787" y="1022639"/>
            <a:ext cx="46779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solidFill>
                  <a:srgbClr val="7030A0"/>
                </a:solidFill>
              </a:rPr>
              <a:t>Общий вид выполнения </a:t>
            </a:r>
            <a:br>
              <a:rPr lang="ru-RU" sz="1600" b="1" dirty="0" smtClean="0">
                <a:solidFill>
                  <a:srgbClr val="7030A0"/>
                </a:solidFill>
              </a:rPr>
            </a:br>
            <a:r>
              <a:rPr lang="ru-RU" sz="1600" b="1" dirty="0" err="1" smtClean="0">
                <a:solidFill>
                  <a:srgbClr val="7030A0"/>
                </a:solidFill>
              </a:rPr>
              <a:t>обфусцированной</a:t>
            </a:r>
            <a:r>
              <a:rPr lang="ru-RU" sz="1600" b="1" dirty="0" smtClean="0">
                <a:solidFill>
                  <a:srgbClr val="7030A0"/>
                </a:solidFill>
              </a:rPr>
              <a:t> нагрузки с мусором </a:t>
            </a:r>
            <a:endParaRPr lang="en-US" sz="1600" b="1" dirty="0">
              <a:solidFill>
                <a:srgbClr val="7030A0"/>
              </a:solidFill>
            </a:endParaRP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266" y="1137351"/>
            <a:ext cx="328445" cy="39933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766" y="1556821"/>
            <a:ext cx="4497106" cy="406026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596" y="1799777"/>
            <a:ext cx="725975" cy="701282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638" y="2702326"/>
            <a:ext cx="725975" cy="70128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638" y="3604875"/>
            <a:ext cx="725975" cy="701282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822" y="4483408"/>
            <a:ext cx="725975" cy="70128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61421" y="894707"/>
            <a:ext cx="545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Цель </a:t>
            </a:r>
            <a:r>
              <a:rPr lang="en-US" b="1" dirty="0" smtClean="0">
                <a:solidFill>
                  <a:srgbClr val="C00000"/>
                </a:solidFill>
              </a:rPr>
              <a:t>– </a:t>
            </a:r>
            <a:r>
              <a:rPr lang="ru-RU" b="1" dirty="0" smtClean="0">
                <a:solidFill>
                  <a:srgbClr val="C00000"/>
                </a:solidFill>
              </a:rPr>
              <a:t>запутать анализ поведения вредоносного ПО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302" y="3695845"/>
            <a:ext cx="1307866" cy="870325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78" y="1455242"/>
            <a:ext cx="448461" cy="4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8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350" y="29935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-12858"/>
            <a:ext cx="919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2A1990"/>
                </a:solidFill>
                <a:latin typeface="Helvetica" pitchFamily="2" charset="0"/>
              </a:rPr>
              <a:t>Как злоумышленник проверяет работоспособность </a:t>
            </a:r>
            <a:br>
              <a:rPr lang="ru-RU" sz="2000" b="1" dirty="0" smtClean="0">
                <a:solidFill>
                  <a:srgbClr val="2A1990"/>
                </a:solidFill>
                <a:latin typeface="Helvetica" pitchFamily="2" charset="0"/>
              </a:rPr>
            </a:br>
            <a:r>
              <a:rPr lang="ru-RU" sz="2000" b="1" dirty="0" smtClean="0">
                <a:solidFill>
                  <a:srgbClr val="2A1990"/>
                </a:solidFill>
                <a:latin typeface="Helvetica" pitchFamily="2" charset="0"/>
              </a:rPr>
              <a:t>вредоносного ПО в «агрессивной» среде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grpSp>
        <p:nvGrpSpPr>
          <p:cNvPr id="13" name="Группа 12"/>
          <p:cNvGrpSpPr/>
          <p:nvPr/>
        </p:nvGrpSpPr>
        <p:grpSpPr>
          <a:xfrm>
            <a:off x="2394439" y="1782552"/>
            <a:ext cx="3028656" cy="4360033"/>
            <a:chOff x="1165860" y="1034650"/>
            <a:chExt cx="3215640" cy="4863229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1165860" y="1034650"/>
              <a:ext cx="3215640" cy="48632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280" y="1389776"/>
              <a:ext cx="3074079" cy="446075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3C3FF255-CA58-1846-9812-E72898041197}"/>
                </a:ext>
              </a:extLst>
            </p:cNvPr>
            <p:cNvSpPr txBox="1"/>
            <p:nvPr/>
          </p:nvSpPr>
          <p:spPr>
            <a:xfrm>
              <a:off x="1165860" y="1034651"/>
              <a:ext cx="3215640" cy="308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b="1" dirty="0" smtClean="0">
                  <a:solidFill>
                    <a:srgbClr val="7030A0"/>
                  </a:solidFill>
                  <a:latin typeface="Helvetica" pitchFamily="2" charset="0"/>
                </a:rPr>
                <a:t>Пример результата проверки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5765547" y="1058046"/>
            <a:ext cx="70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7030A0"/>
                </a:solidFill>
                <a:latin typeface="Helvetica" pitchFamily="2" charset="0"/>
              </a:rPr>
              <a:t>Общий алгоритм проверки и доработки</a:t>
            </a:r>
            <a:br>
              <a:rPr lang="ru-RU" sz="1400" b="1" dirty="0" smtClean="0">
                <a:solidFill>
                  <a:srgbClr val="7030A0"/>
                </a:solidFill>
                <a:latin typeface="Helvetica" pitchFamily="2" charset="0"/>
              </a:rPr>
            </a:br>
            <a:r>
              <a:rPr lang="ru-RU" sz="1400" b="1" dirty="0" smtClean="0">
                <a:solidFill>
                  <a:srgbClr val="7030A0"/>
                </a:solidFill>
                <a:latin typeface="Helvetica" pitchFamily="2" charset="0"/>
              </a:rPr>
              <a:t>вредоносного ПО перед использованием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7C9CECDA-4BE1-A54F-9959-B7A926398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564" y="790678"/>
            <a:ext cx="167436" cy="167436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1479736" y="704647"/>
            <a:ext cx="528734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/>
              <a:t>Антивирусный стенд – </a:t>
            </a:r>
            <a:r>
              <a:rPr lang="ru-RU" sz="1400" dirty="0" smtClean="0"/>
              <a:t>сервис, предоставляющий возможность</a:t>
            </a:r>
          </a:p>
          <a:p>
            <a:r>
              <a:rPr lang="ru-RU" sz="1400" dirty="0" smtClean="0"/>
              <a:t>проверки ПО на различных антивирусах.</a:t>
            </a:r>
          </a:p>
          <a:p>
            <a:endParaRPr lang="ru-RU" sz="200" dirty="0" smtClean="0"/>
          </a:p>
          <a:p>
            <a:r>
              <a:rPr lang="ru-RU" sz="1400" b="1" dirty="0">
                <a:solidFill>
                  <a:srgbClr val="00B050"/>
                </a:solidFill>
              </a:rPr>
              <a:t> </a:t>
            </a:r>
            <a:r>
              <a:rPr lang="ru-RU" sz="1400" b="1" dirty="0" smtClean="0">
                <a:solidFill>
                  <a:srgbClr val="00B050"/>
                </a:solidFill>
              </a:rPr>
              <a:t>           Публичные</a:t>
            </a:r>
            <a:r>
              <a:rPr lang="ru-RU" sz="1400" dirty="0" smtClean="0"/>
              <a:t> (</a:t>
            </a:r>
            <a:r>
              <a:rPr lang="ru-RU" sz="1400" i="1" dirty="0" smtClean="0"/>
              <a:t>отправляют данные проверки АВ компаниям</a:t>
            </a:r>
            <a:r>
              <a:rPr lang="ru-RU" sz="1400" dirty="0" smtClean="0"/>
              <a:t>)</a:t>
            </a:r>
          </a:p>
          <a:p>
            <a:endParaRPr lang="ru-RU" sz="200" dirty="0" smtClean="0"/>
          </a:p>
          <a:p>
            <a:r>
              <a:rPr lang="ru-RU" sz="1400" b="1" dirty="0">
                <a:solidFill>
                  <a:srgbClr val="FFC000"/>
                </a:solidFill>
              </a:rPr>
              <a:t> </a:t>
            </a:r>
            <a:r>
              <a:rPr lang="ru-RU" sz="1400" b="1" dirty="0" smtClean="0">
                <a:solidFill>
                  <a:srgbClr val="FFC000"/>
                </a:solidFill>
              </a:rPr>
              <a:t>           Закрытые</a:t>
            </a:r>
            <a:r>
              <a:rPr lang="ru-RU" sz="1400" dirty="0" smtClean="0"/>
              <a:t>    (</a:t>
            </a:r>
            <a:r>
              <a:rPr lang="ru-RU" sz="1400" i="1" dirty="0" smtClean="0"/>
              <a:t>не отправляют данные проверки</a:t>
            </a:r>
            <a:r>
              <a:rPr lang="ru-RU" sz="1400" dirty="0" smtClean="0"/>
              <a:t>)</a:t>
            </a:r>
            <a:endParaRPr lang="en-US" sz="1400" i="1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600" y="1841180"/>
            <a:ext cx="5121899" cy="3511455"/>
          </a:xfrm>
          <a:prstGeom prst="rect">
            <a:avLst/>
          </a:prstGeom>
        </p:spPr>
      </p:pic>
      <p:sp>
        <p:nvSpPr>
          <p:cNvPr id="32" name="Овал 31"/>
          <p:cNvSpPr/>
          <p:nvPr/>
        </p:nvSpPr>
        <p:spPr>
          <a:xfrm>
            <a:off x="1790700" y="1283937"/>
            <a:ext cx="78581" cy="785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4" name="Овал 33"/>
          <p:cNvSpPr/>
          <p:nvPr/>
        </p:nvSpPr>
        <p:spPr>
          <a:xfrm>
            <a:off x="1790700" y="1523552"/>
            <a:ext cx="78581" cy="785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9147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404167"/>
            <a:ext cx="9197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  <a:t>Способы распространения вредоносного ПО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08380" y="946150"/>
            <a:ext cx="977814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</a:t>
            </a:r>
            <a:r>
              <a:rPr lang="ru-RU" dirty="0" smtClean="0"/>
              <a:t>	</a:t>
            </a:r>
            <a:r>
              <a:rPr lang="ru-RU" b="1" dirty="0" smtClean="0"/>
              <a:t>Браузер: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Открытие</a:t>
            </a:r>
            <a:r>
              <a:rPr lang="en-US" dirty="0" smtClean="0"/>
              <a:t> </a:t>
            </a:r>
            <a:r>
              <a:rPr lang="ru-RU" dirty="0" smtClean="0"/>
              <a:t>сомнительных </a:t>
            </a:r>
            <a:r>
              <a:rPr lang="en-US" dirty="0" err="1" smtClean="0"/>
              <a:t>ссылок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Использование непроверенных плагинов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Посещение сайтов с сомнительным контентом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lvl="1"/>
            <a:r>
              <a:rPr lang="ru-RU" dirty="0"/>
              <a:t>	 </a:t>
            </a:r>
            <a:r>
              <a:rPr lang="ru-RU" dirty="0" smtClean="0"/>
              <a:t>            </a:t>
            </a:r>
            <a:r>
              <a:rPr lang="ru-RU" b="1" dirty="0" smtClean="0"/>
              <a:t>Офисное ПО: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Открытие</a:t>
            </a:r>
            <a:r>
              <a:rPr lang="en-US" dirty="0" smtClean="0"/>
              <a:t> </a:t>
            </a:r>
            <a:r>
              <a:rPr lang="en-US" dirty="0" err="1"/>
              <a:t>вредоносных</a:t>
            </a:r>
            <a:r>
              <a:rPr lang="en-US" dirty="0"/>
              <a:t> </a:t>
            </a:r>
            <a:r>
              <a:rPr lang="en-US" dirty="0" err="1" smtClean="0"/>
              <a:t>документов</a:t>
            </a:r>
            <a:r>
              <a:rPr lang="ru-RU" dirty="0" smtClean="0"/>
              <a:t> (</a:t>
            </a:r>
            <a:r>
              <a:rPr lang="en-US" dirty="0" smtClean="0"/>
              <a:t>*.doc,*.</a:t>
            </a:r>
            <a:r>
              <a:rPr lang="en-US" dirty="0" err="1" smtClean="0"/>
              <a:t>docx</a:t>
            </a:r>
            <a:r>
              <a:rPr lang="en-US" dirty="0" smtClean="0"/>
              <a:t>,*.</a:t>
            </a:r>
            <a:r>
              <a:rPr lang="en-US" dirty="0" err="1" smtClean="0"/>
              <a:t>xls</a:t>
            </a:r>
            <a:r>
              <a:rPr lang="en-US" dirty="0" smtClean="0"/>
              <a:t>,*.</a:t>
            </a:r>
            <a:r>
              <a:rPr lang="en-US" dirty="0" err="1" smtClean="0"/>
              <a:t>xlsx</a:t>
            </a:r>
            <a:r>
              <a:rPr lang="en-US" dirty="0" smtClean="0"/>
              <a:t>,*.pdf..)</a:t>
            </a:r>
            <a:endParaRPr lang="ru-RU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Использование уязвимостей офисного ПО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/>
              <a:t>Использование макросов</a:t>
            </a:r>
          </a:p>
          <a:p>
            <a:pPr lvl="1"/>
            <a:endParaRPr lang="ru-RU" sz="1000" dirty="0" smtClean="0"/>
          </a:p>
          <a:p>
            <a:pPr lvl="1"/>
            <a:r>
              <a:rPr lang="ru-RU" dirty="0"/>
              <a:t> </a:t>
            </a:r>
            <a:r>
              <a:rPr lang="ru-RU" dirty="0" smtClean="0"/>
              <a:t>                </a:t>
            </a:r>
            <a:r>
              <a:rPr lang="ru-RU" b="1" dirty="0" smtClean="0"/>
              <a:t>Сомнительное ПО: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недоверенного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 smtClean="0"/>
              <a:t>пиратского</a:t>
            </a:r>
            <a:r>
              <a:rPr lang="ru-RU" dirty="0" smtClean="0"/>
              <a:t> (</a:t>
            </a:r>
            <a:r>
              <a:rPr lang="en-US" dirty="0" smtClean="0"/>
              <a:t>“cracked”</a:t>
            </a:r>
            <a:r>
              <a:rPr lang="ru-RU" dirty="0" smtClean="0"/>
              <a:t>)</a:t>
            </a:r>
            <a:r>
              <a:rPr lang="en-US" dirty="0" smtClean="0"/>
              <a:t> ПО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Запуск</a:t>
            </a:r>
            <a:r>
              <a:rPr lang="en-US" dirty="0" smtClean="0"/>
              <a:t> </a:t>
            </a:r>
            <a:r>
              <a:rPr lang="en-US" dirty="0" err="1"/>
              <a:t>непроверенных</a:t>
            </a:r>
            <a:r>
              <a:rPr lang="en-US" dirty="0"/>
              <a:t> </a:t>
            </a:r>
            <a:r>
              <a:rPr lang="en-US" dirty="0" err="1" smtClean="0"/>
              <a:t>скриптов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ru-RU" dirty="0" smtClean="0"/>
              <a:t>		</a:t>
            </a:r>
            <a:r>
              <a:rPr lang="ru-RU" b="1" dirty="0" smtClean="0"/>
              <a:t>Другие: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Уязвимости</a:t>
            </a:r>
            <a:r>
              <a:rPr lang="en-US" dirty="0" smtClean="0"/>
              <a:t> </a:t>
            </a:r>
            <a:r>
              <a:rPr lang="en-US" dirty="0"/>
              <a:t>ОС и </a:t>
            </a:r>
            <a:r>
              <a:rPr lang="en-US" dirty="0" err="1"/>
              <a:t>известного</a:t>
            </a:r>
            <a:r>
              <a:rPr lang="en-US" dirty="0"/>
              <a:t> ПО </a:t>
            </a:r>
            <a:r>
              <a:rPr lang="en-US" dirty="0" smtClean="0"/>
              <a:t>(</a:t>
            </a:r>
            <a:r>
              <a:rPr lang="en-US" dirty="0" err="1" smtClean="0"/>
              <a:t>WinRar</a:t>
            </a:r>
            <a:r>
              <a:rPr lang="ru-RU" dirty="0" smtClean="0"/>
              <a:t> </a:t>
            </a:r>
            <a:r>
              <a:rPr lang="en-US" dirty="0" smtClean="0"/>
              <a:t>CVE-2018-20250</a:t>
            </a:r>
            <a:r>
              <a:rPr lang="ru-RU" dirty="0" smtClean="0"/>
              <a:t>..</a:t>
            </a:r>
            <a:r>
              <a:rPr lang="en-US" dirty="0" smtClean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 smtClean="0"/>
              <a:t>приложений</a:t>
            </a:r>
            <a:r>
              <a:rPr lang="ru-RU" dirty="0" smtClean="0"/>
              <a:t> из </a:t>
            </a:r>
            <a:r>
              <a:rPr lang="ru-RU" dirty="0" err="1" smtClean="0"/>
              <a:t>недовереных</a:t>
            </a:r>
            <a:r>
              <a:rPr lang="ru-RU" dirty="0" smtClean="0"/>
              <a:t> источников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 smtClean="0"/>
              <a:t>администрирования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Украденные (полученные) учетные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Социальная инженерия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13" y="3556672"/>
            <a:ext cx="741883" cy="74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3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68CD9C-A620-FB42-A413-A0B5DED3471D}"/>
              </a:ext>
            </a:extLst>
          </p:cNvPr>
          <p:cNvSpPr txBox="1"/>
          <p:nvPr/>
        </p:nvSpPr>
        <p:spPr>
          <a:xfrm>
            <a:off x="0" y="316381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Как защититься?</a:t>
            </a:r>
            <a:endParaRPr lang="en-US" sz="3600" b="1" dirty="0" smtClean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B49C233-7C2A-D449-A942-086177863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4100"/>
            <a:ext cx="12192000" cy="1993900"/>
          </a:xfrm>
          <a:prstGeom prst="rect">
            <a:avLst/>
          </a:prstGeo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23" y="1317240"/>
            <a:ext cx="3909995" cy="19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6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265668"/>
            <a:ext cx="9206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  <a:t>Защита и минимизация рисков</a:t>
            </a:r>
            <a:b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</a:br>
            <a:r>
              <a:rPr lang="ru-RU" b="1" dirty="0" smtClean="0">
                <a:solidFill>
                  <a:srgbClr val="2A1990"/>
                </a:solidFill>
                <a:latin typeface="Helvetica" pitchFamily="2" charset="0"/>
              </a:rPr>
              <a:t>(в дополнение к использованию АВ)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7144" y="1004332"/>
            <a:ext cx="1035771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Использование и настройка персональных сетевых экранов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Использование лицензионного и </a:t>
            </a:r>
            <a:r>
              <a:rPr lang="ru-RU" sz="2000" dirty="0" smtClean="0"/>
              <a:t>доверенного ПО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Своевременное обновление ПО и </a:t>
            </a:r>
            <a:r>
              <a:rPr lang="ru-RU" sz="2000" dirty="0" smtClean="0"/>
              <a:t>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Проверка цифровых подписей </a:t>
            </a:r>
            <a:r>
              <a:rPr lang="ru-RU" sz="2000" dirty="0" smtClean="0"/>
              <a:t>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Отказ или ограничение использования сомнительного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Проверка сомнительного ПО (например на </a:t>
            </a:r>
            <a:r>
              <a:rPr lang="en-US" sz="2000" dirty="0" err="1" smtClean="0"/>
              <a:t>VirusTotal</a:t>
            </a:r>
            <a:r>
              <a:rPr lang="ru-RU" sz="2000" dirty="0" smtClean="0"/>
              <a:t>)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Использование виртуальных машин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Для одноразового запуска или использования сомнительного ПО (снимки)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Для разделения личного и рабочего пространства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Ограничение </a:t>
            </a:r>
            <a:r>
              <a:rPr lang="ru-RU" sz="2000" dirty="0" smtClean="0"/>
              <a:t>прав пользователя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Использование сильной парольной </a:t>
            </a:r>
            <a:r>
              <a:rPr lang="ru-RU" sz="2000" dirty="0" smtClean="0"/>
              <a:t>политики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Использование двухфакторной авторизации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4868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203C6E1-4191-8244-891C-C17CA19C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3FF255-CA58-1846-9812-E72898041197}"/>
              </a:ext>
            </a:extLst>
          </p:cNvPr>
          <p:cNvSpPr txBox="1"/>
          <p:nvPr/>
        </p:nvSpPr>
        <p:spPr>
          <a:xfrm>
            <a:off x="0" y="265668"/>
            <a:ext cx="9206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  <a:t>Защита и минимизация рисков</a:t>
            </a:r>
            <a:br>
              <a:rPr lang="ru-RU" sz="2400" b="1" dirty="0" smtClean="0">
                <a:solidFill>
                  <a:srgbClr val="2A1990"/>
                </a:solidFill>
                <a:latin typeface="Helvetica" pitchFamily="2" charset="0"/>
              </a:rPr>
            </a:br>
            <a:r>
              <a:rPr lang="ru-RU" b="1" dirty="0" smtClean="0">
                <a:solidFill>
                  <a:srgbClr val="2A1990"/>
                </a:solidFill>
                <a:latin typeface="Helvetica" pitchFamily="2" charset="0"/>
              </a:rPr>
              <a:t>(в дополнение к использованию АВ)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3A802FE-C76C-F24D-81C9-C84931056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5700"/>
            <a:ext cx="12192000" cy="6223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7144" y="2067569"/>
            <a:ext cx="103577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Проверка вводимых данных (в </a:t>
            </a:r>
            <a:r>
              <a:rPr lang="ru-RU" sz="2000" dirty="0" err="1" smtClean="0"/>
              <a:t>т.ч</a:t>
            </a:r>
            <a:r>
              <a:rPr lang="ru-RU" sz="2000" dirty="0" smtClean="0"/>
              <a:t>. через буфер обмена)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Резервное копирование важных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«Разумный» веб-серфинг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Работа с документами от проверенного источника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Блокировка макросов в офисных документах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 smtClean="0"/>
              <a:t>Своевременная реакция на сомнительное поведение </a:t>
            </a:r>
            <a:br>
              <a:rPr lang="ru-RU" sz="2000" b="1" dirty="0" smtClean="0"/>
            </a:br>
            <a:r>
              <a:rPr lang="ru-RU" sz="2000" b="1" dirty="0" smtClean="0"/>
              <a:t>или инцидент (оповещение ответственных лиц)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417562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68CD9C-A620-FB42-A413-A0B5DED3471D}"/>
              </a:ext>
            </a:extLst>
          </p:cNvPr>
          <p:cNvSpPr txBox="1"/>
          <p:nvPr/>
        </p:nvSpPr>
        <p:spPr>
          <a:xfrm>
            <a:off x="0" y="2303959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2A1990"/>
                </a:solidFill>
                <a:latin typeface="Helvetica" pitchFamily="2" charset="0"/>
              </a:rPr>
              <a:t>Вывод:</a:t>
            </a:r>
          </a:p>
          <a:p>
            <a:pPr algn="ctr"/>
            <a:r>
              <a:rPr lang="ru-RU" sz="3600" dirty="0" smtClean="0">
                <a:solidFill>
                  <a:srgbClr val="2A1990"/>
                </a:solidFill>
                <a:latin typeface="Helvetica" pitchFamily="2" charset="0"/>
              </a:rPr>
              <a:t>Любую систему защиты можно обойти,</a:t>
            </a:r>
          </a:p>
          <a:p>
            <a:pPr algn="ctr"/>
            <a:r>
              <a:rPr lang="ru-RU" sz="3600" dirty="0">
                <a:solidFill>
                  <a:srgbClr val="2A1990"/>
                </a:solidFill>
                <a:latin typeface="Helvetica" pitchFamily="2" charset="0"/>
              </a:rPr>
              <a:t>н</a:t>
            </a:r>
            <a:r>
              <a:rPr lang="ru-RU" sz="3600" dirty="0" smtClean="0">
                <a:solidFill>
                  <a:srgbClr val="2A1990"/>
                </a:solidFill>
                <a:latin typeface="Helvetica" pitchFamily="2" charset="0"/>
              </a:rPr>
              <a:t>аша с вами задача – минимизировать риски.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B49C233-7C2A-D449-A942-086177863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4100"/>
            <a:ext cx="12192000" cy="1993900"/>
          </a:xfrm>
          <a:prstGeom prst="rect">
            <a:avLst/>
          </a:prstGeo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xmlns="" id="{482ECA5D-5A53-364D-826B-70259764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230" y="323850"/>
            <a:ext cx="24765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3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68CD9C-A620-FB42-A413-A0B5DED3471D}"/>
              </a:ext>
            </a:extLst>
          </p:cNvPr>
          <p:cNvSpPr txBox="1"/>
          <p:nvPr/>
        </p:nvSpPr>
        <p:spPr>
          <a:xfrm>
            <a:off x="0" y="230395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2A1990"/>
                </a:solidFill>
                <a:latin typeface="Helvetica" pitchFamily="2" charset="0"/>
              </a:rPr>
              <a:t>Спасибо за </a:t>
            </a:r>
            <a:r>
              <a:rPr lang="ru-RU" sz="4400" b="1" dirty="0" smtClean="0">
                <a:solidFill>
                  <a:srgbClr val="2A1990"/>
                </a:solidFill>
                <a:latin typeface="Helvetica" pitchFamily="2" charset="0"/>
              </a:rPr>
              <a:t>внимание!</a:t>
            </a:r>
            <a:endParaRPr lang="ru-RU" sz="4400" b="1" dirty="0">
              <a:solidFill>
                <a:srgbClr val="2A1990"/>
              </a:solidFill>
              <a:latin typeface="Helvetica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B49C233-7C2A-D449-A942-086177863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4100"/>
            <a:ext cx="121920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0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12582</TotalTime>
  <Words>560</Words>
  <Application>Microsoft Office PowerPoint</Application>
  <PresentationFormat>Широкоэкранный</PresentationFormat>
  <Paragraphs>146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Ямбаева Динара</dc:creator>
  <cp:lastModifiedBy>Windows User</cp:lastModifiedBy>
  <cp:revision>179</cp:revision>
  <dcterms:created xsi:type="dcterms:W3CDTF">2022-06-22T15:38:56Z</dcterms:created>
  <dcterms:modified xsi:type="dcterms:W3CDTF">2023-06-09T09:56:08Z</dcterms:modified>
</cp:coreProperties>
</file>